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97280" y="2011680"/>
            <a:ext cx="9997135" cy="1828800"/>
          </a:xfrm>
          <a:prstGeom prst="rect">
            <a:avLst/>
          </a:prstGeom>
          <a:noFill/>
        </p:spPr>
        <p:txBody>
          <a:bodyPr wrap="square">
            <a:spAutoFit/>
          </a:bodyPr>
          <a:lstStyle/>
          <a:p>
            <a:pPr algn="ctr">
              <a:defRPr sz="2700" b="1">
                <a:solidFill>
                  <a:srgbClr val="0F172A"/>
                </a:solidFill>
                <a:latin typeface="Georgia"/>
              </a:defRPr>
            </a:pPr>
            <a:r>
              <a:t>AI-Powered High-Resolution Solar Rooftop Potential Estimator with Interactive CAD Vector Modeling and Geospatial Climatology</a:t>
            </a:r>
          </a:p>
        </p:txBody>
      </p:sp>
      <p:sp>
        <p:nvSpPr>
          <p:cNvPr id="7" name="TextBox 6"/>
          <p:cNvSpPr txBox="1"/>
          <p:nvPr/>
        </p:nvSpPr>
        <p:spPr>
          <a:xfrm>
            <a:off x="1097280" y="4389120"/>
            <a:ext cx="4572000" cy="1645920"/>
          </a:xfrm>
          <a:prstGeom prst="rect">
            <a:avLst/>
          </a:prstGeom>
          <a:noFill/>
        </p:spPr>
        <p:txBody>
          <a:bodyPr wrap="none">
            <a:spAutoFit/>
          </a:bodyPr>
          <a:lstStyle/>
          <a:p>
            <a:pPr>
              <a:defRPr b="1" sz="1400"/>
            </a:pPr>
            <a:r>
              <a:t>Under the guidance of:</a:t>
            </a:r>
          </a:p>
          <a:p>
            <a:pPr>
              <a:defRPr sz="1300"/>
            </a:pPr>
            <a:r>
              <a:t>Guide Name : Dr. Ram Babu Pemula / Project Guide</a:t>
            </a:r>
          </a:p>
          <a:p>
            <a:pPr>
              <a:defRPr sz="1300"/>
            </a:pPr>
            <a:r>
              <a:t>Designation : Associate Professor</a:t>
            </a:r>
          </a:p>
        </p:txBody>
      </p:sp>
      <p:sp>
        <p:nvSpPr>
          <p:cNvPr id="8" name="TextBox 7"/>
          <p:cNvSpPr txBox="1"/>
          <p:nvPr/>
        </p:nvSpPr>
        <p:spPr>
          <a:xfrm>
            <a:off x="6858000" y="4389120"/>
            <a:ext cx="4206240" cy="1645920"/>
          </a:xfrm>
          <a:prstGeom prst="rect">
            <a:avLst/>
          </a:prstGeom>
          <a:noFill/>
        </p:spPr>
        <p:txBody>
          <a:bodyPr wrap="none">
            <a:spAutoFit/>
          </a:bodyPr>
          <a:lstStyle/>
          <a:p>
            <a:pPr>
              <a:defRPr b="1" sz="1400"/>
            </a:pPr>
            <a:r>
              <a:t>By :</a:t>
            </a:r>
          </a:p>
          <a:p>
            <a:pPr>
              <a:defRPr sz="1300"/>
            </a:pPr>
            <a:r>
              <a:t>Team No : 06 / Major Project Team</a:t>
            </a:r>
          </a:p>
          <a:p>
            <a:pPr>
              <a:defRPr sz="1300"/>
            </a:pPr>
            <a:r>
              <a:t>Name : A. Chandra Mohan (Roll No: [Your Roll No])</a:t>
            </a:r>
          </a:p>
          <a:p>
            <a:pPr>
              <a:defRPr sz="1300"/>
            </a:pPr>
            <a:r>
              <a:t>Name : Project Team Member (Roll No: [Roll No])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2</a:t>
            </a:r>
          </a:p>
        </p:txBody>
      </p:sp>
      <p:sp>
        <p:nvSpPr>
          <p:cNvPr id="7" name="TextBox 6"/>
          <p:cNvSpPr txBox="1"/>
          <p:nvPr/>
        </p:nvSpPr>
        <p:spPr>
          <a:xfrm>
            <a:off x="914400" y="1371600"/>
            <a:ext cx="10362895" cy="640080"/>
          </a:xfrm>
          <a:prstGeom prst="rect">
            <a:avLst/>
          </a:prstGeom>
          <a:noFill/>
        </p:spPr>
        <p:txBody>
          <a:bodyPr wrap="none">
            <a:spAutoFit/>
          </a:bodyPr>
          <a:lstStyle/>
          <a:p>
            <a:pPr algn="ctr">
              <a:defRPr sz="2600" b="1">
                <a:solidFill>
                  <a:srgbClr val="1F2937"/>
                </a:solidFill>
                <a:latin typeface="Georgia"/>
              </a:defRPr>
            </a:pPr>
            <a:r>
              <a:t>Introduction &amp; Background</a:t>
            </a:r>
          </a:p>
        </p:txBody>
      </p:sp>
      <p:sp>
        <p:nvSpPr>
          <p:cNvPr id="8" name="TextBox 7"/>
          <p:cNvSpPr txBox="1"/>
          <p:nvPr/>
        </p:nvSpPr>
        <p:spPr>
          <a:xfrm>
            <a:off x="914400" y="2057400"/>
            <a:ext cx="10362895" cy="4023360"/>
          </a:xfrm>
          <a:prstGeom prst="rect">
            <a:avLst/>
          </a:prstGeom>
          <a:noFill/>
        </p:spPr>
        <p:txBody>
          <a:bodyPr wrap="square">
            <a:spAutoFit/>
          </a:bodyPr>
          <a:lstStyle/>
          <a:p>
            <a:pPr>
              <a:spcAft>
                <a:spcPts val="800"/>
              </a:spcAft>
              <a:defRPr sz="1350">
                <a:solidFill>
                  <a:srgbClr val="1F2937"/>
                </a:solidFill>
                <a:latin typeface="Roboto"/>
              </a:defRPr>
            </a:pPr>
            <a:r>
              <a:t>● Decentralized Urban Clean Energy Transition: Global climate mitigation mandates and national net-zero pledges require rapid scaling of rooftop solar photovoltaics (PV) in urban and rural residential zones.</a:t>
            </a:r>
          </a:p>
          <a:p>
            <a:pPr>
              <a:spcAft>
                <a:spcPts val="800"/>
              </a:spcAft>
              <a:defRPr sz="1350">
                <a:solidFill>
                  <a:srgbClr val="1F2937"/>
                </a:solidFill>
                <a:latin typeface="Roboto"/>
              </a:defRPr>
            </a:pPr>
            <a:r>
              <a:t>● Government of India Mandates: The national PM Surya Ghar: Muft Bijli Yojana aims to deploy solar on 10 million Indian homes, targeting 300 units of free power monthly while reducing thermal coal generation reliance.</a:t>
            </a:r>
          </a:p>
          <a:p>
            <a:pPr>
              <a:spcAft>
                <a:spcPts val="800"/>
              </a:spcAft>
              <a:defRPr sz="1350">
                <a:solidFill>
                  <a:srgbClr val="1F2937"/>
                </a:solidFill>
                <a:latin typeface="Roboto"/>
              </a:defRPr>
            </a:pPr>
            <a:r>
              <a:t>● The Pre-Feasibility Feasibility Bottleneck: Over 80% of potential solar adopters drop out during the initial feasibility stage due to delays, confusion regarding roof capacity, and high site-audit expenses.</a:t>
            </a:r>
          </a:p>
          <a:p>
            <a:pPr>
              <a:spcAft>
                <a:spcPts val="800"/>
              </a:spcAft>
              <a:defRPr sz="1350">
                <a:solidFill>
                  <a:srgbClr val="1F2937"/>
                </a:solidFill>
                <a:latin typeface="Roboto"/>
              </a:defRPr>
            </a:pPr>
            <a:r>
              <a:t>● The Promise of Earth Observation Satellites: Sub-meter commercial Earth-observation satellites (0.07–0.30 m/px) offer continuous coverage, enabling virtual spatial assessment without climbing rooftops.</a:t>
            </a:r>
          </a:p>
          <a:p>
            <a:pPr>
              <a:spcAft>
                <a:spcPts val="800"/>
              </a:spcAft>
              <a:defRPr sz="1350">
                <a:solidFill>
                  <a:srgbClr val="1F2937"/>
                </a:solidFill>
                <a:latin typeface="Roboto"/>
              </a:defRPr>
            </a:pPr>
            <a:r>
              <a:t>● The Technical Problem: Automated computer-vision algorithms frequently fail on real-world rooftops due to monocular perspective distortions, satellite camera tilt, and complex rooftop architecture.</a:t>
            </a:r>
          </a:p>
          <a:p>
            <a:pPr>
              <a:spcAft>
                <a:spcPts val="800"/>
              </a:spcAft>
              <a:defRPr sz="1350">
                <a:solidFill>
                  <a:srgbClr val="1F2937"/>
                </a:solidFill>
                <a:latin typeface="Roboto"/>
              </a:defRPr>
            </a:pPr>
            <a:r>
              <a:t>● Research Opportunity: Developing an accessible, open-access engineering platform combining machine learning with interactive CAD vector modeling and verifiable NASA/CEA climatology.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3</a:t>
            </a:r>
          </a:p>
        </p:txBody>
      </p:sp>
      <p:sp>
        <p:nvSpPr>
          <p:cNvPr id="7" name="TextBox 6"/>
          <p:cNvSpPr txBox="1"/>
          <p:nvPr/>
        </p:nvSpPr>
        <p:spPr>
          <a:xfrm>
            <a:off x="914400" y="1371600"/>
            <a:ext cx="10362895" cy="640080"/>
          </a:xfrm>
          <a:prstGeom prst="rect">
            <a:avLst/>
          </a:prstGeom>
          <a:noFill/>
        </p:spPr>
        <p:txBody>
          <a:bodyPr wrap="none">
            <a:spAutoFit/>
          </a:bodyPr>
          <a:lstStyle/>
          <a:p>
            <a:pPr algn="ctr">
              <a:defRPr sz="2600" b="1">
                <a:solidFill>
                  <a:srgbClr val="1F2937"/>
                </a:solidFill>
                <a:latin typeface="Georgia"/>
              </a:defRPr>
            </a:pPr>
            <a:r>
              <a:t>Problem Statement</a:t>
            </a:r>
          </a:p>
        </p:txBody>
      </p:sp>
      <p:sp>
        <p:nvSpPr>
          <p:cNvPr id="8" name="TextBox 7"/>
          <p:cNvSpPr txBox="1"/>
          <p:nvPr/>
        </p:nvSpPr>
        <p:spPr>
          <a:xfrm>
            <a:off x="914400" y="2057400"/>
            <a:ext cx="10362895" cy="4023360"/>
          </a:xfrm>
          <a:prstGeom prst="rect">
            <a:avLst/>
          </a:prstGeom>
          <a:noFill/>
        </p:spPr>
        <p:txBody>
          <a:bodyPr wrap="square">
            <a:spAutoFit/>
          </a:bodyPr>
          <a:lstStyle/>
          <a:p>
            <a:pPr>
              <a:spcAft>
                <a:spcPts val="800"/>
              </a:spcAft>
              <a:defRPr sz="1350">
                <a:solidFill>
                  <a:srgbClr val="1F2937"/>
                </a:solidFill>
                <a:latin typeface="Roboto"/>
              </a:defRPr>
            </a:pPr>
            <a:r>
              <a:t>● Prohibitive On-Site Engineering Survey Costs: Traditional manual ladder inspections, tape measurements, and drone fly-overs cost ₹5,000–₹15,000 per property with turnaround times exceeding 7 to 10 days.</a:t>
            </a:r>
          </a:p>
          <a:p>
            <a:pPr>
              <a:spcAft>
                <a:spcPts val="800"/>
              </a:spcAft>
              <a:defRPr sz="1350">
                <a:solidFill>
                  <a:srgbClr val="1F2937"/>
                </a:solidFill>
                <a:latin typeface="Roboto"/>
              </a:defRPr>
            </a:pPr>
            <a:r>
              <a:t>● Monocular Satellite Off-Nadir Perspective Distortion: Satellites photograph cities at 15°–30° off-nadir tilt angles, projecting multi-story vertical facade walls into 2D orthophotos where AI models falsely classify walls as usable rooftop area.</a:t>
            </a:r>
          </a:p>
          <a:p>
            <a:pPr>
              <a:spcAft>
                <a:spcPts val="800"/>
              </a:spcAft>
              <a:defRPr sz="1350">
                <a:solidFill>
                  <a:srgbClr val="1F2937"/>
                </a:solidFill>
                <a:latin typeface="Roboto"/>
              </a:defRPr>
            </a:pPr>
            <a:r>
              <a:t>● Complete Scarcity of 3D Airborne LiDAR in India: Tools like Google Project Sunroof rely on high-density 3D LiDAR point clouds ($&gt;15\text{ pts}/m^2$), which are completely non-existent across Indian cities, towns, and villages.</a:t>
            </a:r>
          </a:p>
          <a:p>
            <a:pPr>
              <a:spcAft>
                <a:spcPts val="800"/>
              </a:spcAft>
              <a:defRPr sz="1350">
                <a:solidFill>
                  <a:srgbClr val="1F2937"/>
                </a:solidFill>
                <a:latin typeface="Roboto"/>
              </a:defRPr>
            </a:pPr>
            <a:r>
              <a:t>● Extravagant Commercial Software Licensing Costs: Commercial suites (PVsyst, Aurora Solar, HelioScope) charge ₹1,00,000 to ₹3,00,000 annually per user seat, creating a severe accessibility barrier for local contractors and homeowners.</a:t>
            </a:r>
          </a:p>
          <a:p>
            <a:pPr>
              <a:spcAft>
                <a:spcPts val="800"/>
              </a:spcAft>
              <a:defRPr sz="1350">
                <a:solidFill>
                  <a:srgbClr val="1F2937"/>
                </a:solidFill>
                <a:latin typeface="Roboto"/>
              </a:defRPr>
            </a:pPr>
            <a:r>
              <a:t>● Algorithmic Failure on Complex Non-Rectangular Roofs: Standard bounding boxes and morphological dilation fail on real-world L-shaped, T-shaped, pitched, or multi-tiered roofs containing parapets, water tanks, and staircases.</a:t>
            </a:r>
          </a:p>
          <a:p>
            <a:pPr>
              <a:spcAft>
                <a:spcPts val="800"/>
              </a:spcAft>
              <a:defRPr sz="1350">
                <a:solidFill>
                  <a:srgbClr val="1F2937"/>
                </a:solidFill>
                <a:latin typeface="Roboto"/>
              </a:defRPr>
            </a:pPr>
            <a:r>
              <a:t>● Reliance on Unverified Static Solar Constants: Online web forms apply static national averages ($5.0\text{ kWh}/m^2/day$) and ignore official Central Electricity Authority (CEA) regional grid emission baselines.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4</a:t>
            </a:r>
          </a:p>
        </p:txBody>
      </p:sp>
      <p:sp>
        <p:nvSpPr>
          <p:cNvPr id="7" name="TextBox 6"/>
          <p:cNvSpPr txBox="1"/>
          <p:nvPr/>
        </p:nvSpPr>
        <p:spPr>
          <a:xfrm>
            <a:off x="914400" y="1371600"/>
            <a:ext cx="10362895" cy="640080"/>
          </a:xfrm>
          <a:prstGeom prst="rect">
            <a:avLst/>
          </a:prstGeom>
          <a:noFill/>
        </p:spPr>
        <p:txBody>
          <a:bodyPr wrap="none">
            <a:spAutoFit/>
          </a:bodyPr>
          <a:lstStyle/>
          <a:p>
            <a:pPr algn="ctr">
              <a:defRPr sz="2600" b="1">
                <a:solidFill>
                  <a:srgbClr val="1F2937"/>
                </a:solidFill>
                <a:latin typeface="Georgia"/>
              </a:defRPr>
            </a:pPr>
            <a:r>
              <a:t>Research Motivation &amp; Need of Study</a:t>
            </a:r>
          </a:p>
        </p:txBody>
      </p:sp>
      <p:sp>
        <p:nvSpPr>
          <p:cNvPr id="8" name="TextBox 7"/>
          <p:cNvSpPr txBox="1"/>
          <p:nvPr/>
        </p:nvSpPr>
        <p:spPr>
          <a:xfrm>
            <a:off x="914400" y="2057400"/>
            <a:ext cx="10362895" cy="4023360"/>
          </a:xfrm>
          <a:prstGeom prst="rect">
            <a:avLst/>
          </a:prstGeom>
          <a:noFill/>
        </p:spPr>
        <p:txBody>
          <a:bodyPr wrap="square">
            <a:spAutoFit/>
          </a:bodyPr>
          <a:lstStyle/>
          <a:p>
            <a:pPr>
              <a:spcAft>
                <a:spcPts val="800"/>
              </a:spcAft>
              <a:defRPr sz="1350">
                <a:solidFill>
                  <a:srgbClr val="1F2937"/>
                </a:solidFill>
                <a:latin typeface="Roboto"/>
              </a:defRPr>
            </a:pPr>
            <a:r>
              <a:t>● Mitigating Rooftop Solar Soft Costs: Soft costs (customer acquisition, site auditing, system layout design) represent 15% to 22% of total turnkey installation expenditure in India.</a:t>
            </a:r>
          </a:p>
          <a:p>
            <a:pPr>
              <a:spcAft>
                <a:spcPts val="800"/>
              </a:spcAft>
              <a:defRPr sz="1350">
                <a:solidFill>
                  <a:srgbClr val="1F2937"/>
                </a:solidFill>
                <a:latin typeface="Roboto"/>
              </a:defRPr>
            </a:pPr>
            <a:r>
              <a:t>● Bridging AI Vision with Physical Engineering: Most AI research stops at producing a binary pixel mask without calculating real photovoltaic string packing, clipping, or IEC-standard power generation.</a:t>
            </a:r>
          </a:p>
          <a:p>
            <a:pPr>
              <a:spcAft>
                <a:spcPts val="800"/>
              </a:spcAft>
              <a:defRPr sz="1350">
                <a:solidFill>
                  <a:srgbClr val="1F2937"/>
                </a:solidFill>
                <a:latin typeface="Roboto"/>
              </a:defRPr>
            </a:pPr>
            <a:r>
              <a:t>● Empowering the 'Human-in-the-Loop': Pure computer vision cannot replace human domain judgment on ambiguous satellite imagery. Providing interactive CAD tools guarantees 100% legal boundary fidelity.</a:t>
            </a:r>
          </a:p>
          <a:p>
            <a:pPr>
              <a:spcAft>
                <a:spcPts val="800"/>
              </a:spcAft>
              <a:defRPr sz="1350">
                <a:solidFill>
                  <a:srgbClr val="1F2937"/>
                </a:solidFill>
                <a:latin typeface="Roboto"/>
              </a:defRPr>
            </a:pPr>
            <a:r>
              <a:t>● Democratizing Clean Energy Decision-Making: Enabling a common citizen or local panchayat to verify solar potential in 30 seconds directly democratizes the clean energy transition.</a:t>
            </a:r>
          </a:p>
          <a:p>
            <a:pPr>
              <a:spcAft>
                <a:spcPts val="800"/>
              </a:spcAft>
              <a:defRPr sz="1350">
                <a:solidFill>
                  <a:srgbClr val="1F2937"/>
                </a:solidFill>
                <a:latin typeface="Roboto"/>
              </a:defRPr>
            </a:pPr>
            <a:r>
              <a:t>● Defensible ESG &amp; Decarbonization Audits: Enterprises, educational institutions, and hospitals require mathematically verifiable, CEA-compliant carbon accounting for statutory sustainability filings.</a:t>
            </a:r>
          </a:p>
          <a:p>
            <a:pPr>
              <a:spcAft>
                <a:spcPts val="800"/>
              </a:spcAft>
              <a:defRPr sz="1350">
                <a:solidFill>
                  <a:srgbClr val="1F2937"/>
                </a:solidFill>
                <a:latin typeface="Roboto"/>
              </a:defRPr>
            </a:pPr>
            <a:r>
              <a:t>● Zero-Cost Academic Benchmark: Providing an open, fully integrated web architecture (FastAPI + React) that serves as an extensible foundation for academic research.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5</a:t>
            </a:r>
          </a:p>
        </p:txBody>
      </p:sp>
      <p:sp>
        <p:nvSpPr>
          <p:cNvPr id="7" name="TextBox 6"/>
          <p:cNvSpPr txBox="1"/>
          <p:nvPr/>
        </p:nvSpPr>
        <p:spPr>
          <a:xfrm>
            <a:off x="914400" y="1371600"/>
            <a:ext cx="10362895" cy="640080"/>
          </a:xfrm>
          <a:prstGeom prst="rect">
            <a:avLst/>
          </a:prstGeom>
          <a:noFill/>
        </p:spPr>
        <p:txBody>
          <a:bodyPr wrap="none">
            <a:spAutoFit/>
          </a:bodyPr>
          <a:lstStyle/>
          <a:p>
            <a:pPr algn="ctr">
              <a:defRPr sz="2600" b="1">
                <a:solidFill>
                  <a:srgbClr val="1F2937"/>
                </a:solidFill>
                <a:latin typeface="Georgia"/>
              </a:defRPr>
            </a:pPr>
            <a:r>
              <a:t>Project Aim &amp; Specific Research Objectives</a:t>
            </a:r>
          </a:p>
        </p:txBody>
      </p:sp>
      <p:sp>
        <p:nvSpPr>
          <p:cNvPr id="8" name="TextBox 7"/>
          <p:cNvSpPr txBox="1"/>
          <p:nvPr/>
        </p:nvSpPr>
        <p:spPr>
          <a:xfrm>
            <a:off x="914400" y="2057400"/>
            <a:ext cx="10362895" cy="4023360"/>
          </a:xfrm>
          <a:prstGeom prst="rect">
            <a:avLst/>
          </a:prstGeom>
          <a:noFill/>
        </p:spPr>
        <p:txBody>
          <a:bodyPr wrap="square">
            <a:spAutoFit/>
          </a:bodyPr>
          <a:lstStyle/>
          <a:p>
            <a:pPr>
              <a:spcAft>
                <a:spcPts val="800"/>
              </a:spcAft>
              <a:defRPr sz="1350">
                <a:solidFill>
                  <a:srgbClr val="1F2937"/>
                </a:solidFill>
                <a:latin typeface="Roboto"/>
              </a:defRPr>
            </a:pPr>
            <a:r>
              <a:t>● Primary Aim: To design, develop, and deploy an enterprise-grade web platform for high-resolution solar rooftop potential estimation combining deep computer vision, interactive vector CAD tools, and climatology.</a:t>
            </a:r>
          </a:p>
          <a:p>
            <a:pPr>
              <a:spcAft>
                <a:spcPts val="800"/>
              </a:spcAft>
              <a:defRPr sz="1350">
                <a:solidFill>
                  <a:srgbClr val="1F2937"/>
                </a:solidFill>
                <a:latin typeface="Roboto"/>
              </a:defRPr>
            </a:pPr>
            <a:r>
              <a:t>● Objective 1 (Geospatial Satellite Integration): Incorporate sub-meter multi-spectral satellite imagery (Zoom 19–21, GSD 0.07–0.28 m/px) using Web Mercator tiling and precise geographic coordinates.</a:t>
            </a:r>
          </a:p>
          <a:p>
            <a:pPr>
              <a:spcAft>
                <a:spcPts val="800"/>
              </a:spcAft>
              <a:defRPr sz="1350">
                <a:solidFill>
                  <a:srgbClr val="1F2937"/>
                </a:solidFill>
                <a:latin typeface="Roboto"/>
              </a:defRPr>
            </a:pPr>
            <a:r>
              <a:t>● Objective 2 (Hybrid Vector Extraction): Develop a dual-mode engine supporting Target-Seeded GrabCut segmentation for standalone roofs and an Interactive CAD Connect-the-Dots tool for arbitrary N-corner roofs.</a:t>
            </a:r>
          </a:p>
          <a:p>
            <a:pPr>
              <a:spcAft>
                <a:spcPts val="800"/>
              </a:spcAft>
              <a:defRPr sz="1350">
                <a:solidFill>
                  <a:srgbClr val="1F2937"/>
                </a:solidFill>
                <a:latin typeface="Roboto"/>
              </a:defRPr>
            </a:pPr>
            <a:r>
              <a:t>● Objective 3 (Zero-Latency Geodesic Physics): Implement client-side WGS-84 ellipsoidal Shoelace projection to compute exact ground area ($m^2$) instantaneously as vertices are dropped or dragged.</a:t>
            </a:r>
          </a:p>
          <a:p>
            <a:pPr>
              <a:spcAft>
                <a:spcPts val="800"/>
              </a:spcAft>
              <a:defRPr sz="1350">
                <a:solidFill>
                  <a:srgbClr val="1F2937"/>
                </a:solidFill>
                <a:latin typeface="Roboto"/>
              </a:defRPr>
            </a:pPr>
            <a:r>
              <a:t>● Objective 4 (NASA POWER Climatology): Interface with the NASA Langley Research Center POWER API to retrieve long-term climatological Global Horizontal Irradiance (GHI in $kWh/m^2/yr$).</a:t>
            </a:r>
          </a:p>
          <a:p>
            <a:pPr>
              <a:spcAft>
                <a:spcPts val="800"/>
              </a:spcAft>
              <a:defRPr sz="1350">
                <a:solidFill>
                  <a:srgbClr val="1F2937"/>
                </a:solidFill>
                <a:latin typeface="Roboto"/>
              </a:defRPr>
            </a:pPr>
            <a:r>
              <a:t>● Objective 5 (Financial &amp; Decarbonization Modeling): Formulate a 25-year compound amortization model incorporating official Central Electricity Authority (CEA) grid factors and 0.7%/year PV cell degradation.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6</a:t>
            </a:r>
          </a:p>
        </p:txBody>
      </p:sp>
      <p:sp>
        <p:nvSpPr>
          <p:cNvPr id="7" name="TextBox 6"/>
          <p:cNvSpPr txBox="1"/>
          <p:nvPr/>
        </p:nvSpPr>
        <p:spPr>
          <a:xfrm>
            <a:off x="914400" y="1371600"/>
            <a:ext cx="10362895" cy="640080"/>
          </a:xfrm>
          <a:prstGeom prst="rect">
            <a:avLst/>
          </a:prstGeom>
          <a:noFill/>
        </p:spPr>
        <p:txBody>
          <a:bodyPr wrap="none">
            <a:spAutoFit/>
          </a:bodyPr>
          <a:lstStyle/>
          <a:p>
            <a:pPr algn="ctr">
              <a:defRPr sz="2600" b="1">
                <a:solidFill>
                  <a:srgbClr val="1F2937"/>
                </a:solidFill>
                <a:latin typeface="Georgia"/>
              </a:defRPr>
            </a:pPr>
            <a:r>
              <a:t>Abstract &amp; Core Contributions</a:t>
            </a:r>
          </a:p>
        </p:txBody>
      </p:sp>
      <p:sp>
        <p:nvSpPr>
          <p:cNvPr id="8" name="TextBox 7"/>
          <p:cNvSpPr txBox="1"/>
          <p:nvPr/>
        </p:nvSpPr>
        <p:spPr>
          <a:xfrm>
            <a:off x="1005840" y="2194560"/>
            <a:ext cx="10180015" cy="3840480"/>
          </a:xfrm>
          <a:prstGeom prst="rect">
            <a:avLst/>
          </a:prstGeom>
          <a:noFill/>
        </p:spPr>
        <p:txBody>
          <a:bodyPr wrap="square">
            <a:spAutoFit/>
          </a:bodyPr>
          <a:lstStyle/>
          <a:p>
            <a:pPr>
              <a:spcAft>
                <a:spcPts val="1400"/>
              </a:spcAft>
              <a:defRPr sz="1450">
                <a:latin typeface="Roboto"/>
              </a:defRPr>
            </a:pPr>
            <a:r>
              <a:t>AI-Powered High-Resolution Solar Rooftop Potential Estimator with Interactive CAD Vector Modeling and Geospatial Climatology introduces a scalable, production-ready geospatial computing system that bridges the gap between deep-learning computer vision and physical photovoltaic engineering. The platform resolves the critical failure mode of satellite off-nadir facade projection through a Hybrid CAD Architecture: combining Target-Seeded GrabCut segmentation with an interactive vector CAD engine that empowers users to click corner vertices around complex L-shaped, T-shaped, or high-rise building perimeters without arbitrary distance cuts.</a:t>
            </a:r>
          </a:p>
          <a:p>
            <a:pPr>
              <a:defRPr sz="1450">
                <a:latin typeface="Roboto"/>
              </a:defRPr>
            </a:pPr>
            <a:r>
              <a:t>The system evaluates true ground surface area using client-side WGS-84 ellipsoidal Shoelace projection with zero latency, queries long-term satellite solar irradiance from the NASA POWER Climatology API, and applies official Central Electricity Authority (CEA) state emission baselines (0.72–0.94 kg CO₂/kWh). An internal scanline clipping algorithm synthesizes real-world photovoltaic string rows while modeling 0.7%/year PV cell derating and lifecycle maintenance reserves over a 25-year financial horizon. Validated across dense village settlements in Telangana and skyscrapers in San Francisco, the system provides sub-meter precision at zero licensing cost.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7</a:t>
            </a:r>
          </a:p>
        </p:txBody>
      </p:sp>
      <p:sp>
        <p:nvSpPr>
          <p:cNvPr id="7" name="TextBox 6"/>
          <p:cNvSpPr txBox="1"/>
          <p:nvPr/>
        </p:nvSpPr>
        <p:spPr>
          <a:xfrm>
            <a:off x="914400" y="1371600"/>
            <a:ext cx="10362895" cy="640080"/>
          </a:xfrm>
          <a:prstGeom prst="rect">
            <a:avLst/>
          </a:prstGeom>
          <a:noFill/>
        </p:spPr>
        <p:txBody>
          <a:bodyPr wrap="none">
            <a:spAutoFit/>
          </a:bodyPr>
          <a:lstStyle/>
          <a:p>
            <a:pPr algn="ctr">
              <a:defRPr sz="2600" b="1">
                <a:solidFill>
                  <a:srgbClr val="1F2937"/>
                </a:solidFill>
                <a:latin typeface="Georgia"/>
              </a:defRPr>
            </a:pPr>
            <a:r>
              <a:t>Literature Survey: Taxonomy &amp; Strategy</a:t>
            </a:r>
          </a:p>
        </p:txBody>
      </p:sp>
      <p:sp>
        <p:nvSpPr>
          <p:cNvPr id="8" name="TextBox 7"/>
          <p:cNvSpPr txBox="1"/>
          <p:nvPr/>
        </p:nvSpPr>
        <p:spPr>
          <a:xfrm>
            <a:off x="914400" y="2057400"/>
            <a:ext cx="10362895" cy="4023360"/>
          </a:xfrm>
          <a:prstGeom prst="rect">
            <a:avLst/>
          </a:prstGeom>
          <a:noFill/>
        </p:spPr>
        <p:txBody>
          <a:bodyPr wrap="square">
            <a:spAutoFit/>
          </a:bodyPr>
          <a:lstStyle/>
          <a:p>
            <a:pPr>
              <a:spcAft>
                <a:spcPts val="800"/>
              </a:spcAft>
              <a:defRPr sz="1350">
                <a:solidFill>
                  <a:srgbClr val="1F2937"/>
                </a:solidFill>
                <a:latin typeface="Roboto"/>
              </a:defRPr>
            </a:pPr>
            <a:r>
              <a:t>● Taxonomy Dimension 1: Computer Vision Architectures: Evaluated semantic and instance segmentation networks (U-Net, ResNet-34, Mask R-CNN, SegNet, YOLOv8-seg, DeepLabV3+) trained on aerial benchmark datasets.</a:t>
            </a:r>
          </a:p>
          <a:p>
            <a:pPr>
              <a:spcAft>
                <a:spcPts val="800"/>
              </a:spcAft>
              <a:defRPr sz="1350">
                <a:solidFill>
                  <a:srgbClr val="1F2937"/>
                </a:solidFill>
                <a:latin typeface="Roboto"/>
              </a:defRPr>
            </a:pPr>
            <a:r>
              <a:t>● Taxonomy Dimension 2: Digital Surface Models &amp; Elevation: Investigated 3D LiDAR point clouds, stereoscopic photogrammetry, and synthetic aperture radar (SAR) for rooftop slope, aspect, and superstructure detection.</a:t>
            </a:r>
          </a:p>
          <a:p>
            <a:pPr>
              <a:spcAft>
                <a:spcPts val="800"/>
              </a:spcAft>
              <a:defRPr sz="1350">
                <a:solidFill>
                  <a:srgbClr val="1F2937"/>
                </a:solidFill>
                <a:latin typeface="Roboto"/>
              </a:defRPr>
            </a:pPr>
            <a:r>
              <a:t>● Taxonomy Dimension 3: Solar Radiation &amp; Climatology: Compared empirical atmospheric models (Perez, Hay-Davies), ground weather stations, Meteonorm synthetic databases, and NASA POWER satellite meteorological observations.</a:t>
            </a:r>
          </a:p>
          <a:p>
            <a:pPr>
              <a:spcAft>
                <a:spcPts val="800"/>
              </a:spcAft>
              <a:defRPr sz="1350">
                <a:solidFill>
                  <a:srgbClr val="1F2937"/>
                </a:solidFill>
                <a:latin typeface="Roboto"/>
              </a:defRPr>
            </a:pPr>
            <a:r>
              <a:t>● Taxonomy Dimension 4: Techno-Economic &amp; Financial Amortization: Analyzed Levelized Cost of Electricity (LCOE), Net Present Value (NPV), simple payback, compound degradation derating, and regional feed-in tariffs across Indian states.</a:t>
            </a:r>
          </a:p>
          <a:p>
            <a:pPr>
              <a:spcAft>
                <a:spcPts val="800"/>
              </a:spcAft>
              <a:defRPr sz="1350">
                <a:solidFill>
                  <a:srgbClr val="1F2937"/>
                </a:solidFill>
                <a:latin typeface="Roboto"/>
              </a:defRPr>
            </a:pPr>
            <a:r>
              <a:t>● Taxonomy Dimension 5: Decarbonization &amp; Grid Emission Factors: Contrasted national and global carbon metrics against official Central Electricity Authority (CEA) baseline databases to quantify true displaced thermal coal emissions.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8</a:t>
            </a:r>
          </a:p>
        </p:txBody>
      </p:sp>
      <p:sp>
        <p:nvSpPr>
          <p:cNvPr id="7" name="TextBox 6"/>
          <p:cNvSpPr txBox="1"/>
          <p:nvPr/>
        </p:nvSpPr>
        <p:spPr>
          <a:xfrm>
            <a:off x="914400" y="1371600"/>
            <a:ext cx="10362895" cy="548640"/>
          </a:xfrm>
          <a:prstGeom prst="rect">
            <a:avLst/>
          </a:prstGeom>
          <a:noFill/>
        </p:spPr>
        <p:txBody>
          <a:bodyPr wrap="none">
            <a:spAutoFit/>
          </a:bodyPr>
          <a:lstStyle/>
          <a:p>
            <a:pPr algn="ctr">
              <a:defRPr sz="2400" b="1">
                <a:solidFill>
                  <a:srgbClr val="1F2937"/>
                </a:solidFill>
                <a:latin typeface="Georgia"/>
              </a:defRPr>
            </a:pPr>
            <a:r>
              <a:t>Literature Survey: Master Comparative Matrix (Part 1)</a:t>
            </a:r>
          </a:p>
        </p:txBody>
      </p:sp>
      <p:graphicFrame>
        <p:nvGraphicFramePr>
          <p:cNvPr id="8" name="Table 7"/>
          <p:cNvGraphicFramePr>
            <a:graphicFrameLocks noGrp="1"/>
          </p:cNvGraphicFramePr>
          <p:nvPr/>
        </p:nvGraphicFramePr>
        <p:xfrm>
          <a:off x="548640" y="2011680"/>
          <a:ext cx="11091672" cy="3931920"/>
        </p:xfrm>
        <a:graphic>
          <a:graphicData uri="http://schemas.openxmlformats.org/drawingml/2006/table">
            <a:tbl>
              <a:tblPr firstRow="1" bandRow="1">
                <a:tableStyleId>{5C22544A-7EE6-4342-B048-85BDC9FD1C3A}</a:tableStyleId>
              </a:tblPr>
              <a:tblGrid>
                <a:gridCol w="457200"/>
                <a:gridCol w="2011680"/>
                <a:gridCol w="1188720"/>
                <a:gridCol w="1828800"/>
                <a:gridCol w="1645920"/>
                <a:gridCol w="1645920"/>
                <a:gridCol w="1280160"/>
                <a:gridCol w="502920"/>
                <a:gridCol w="530352"/>
              </a:tblGrid>
              <a:tr h="1310640">
                <a:tc>
                  <a:txBody>
                    <a:bodyPr/>
                    <a:lstStyle/>
                    <a:p>
                      <a:pPr algn="ctr">
                        <a:defRPr b="1" sz="950"/>
                      </a:pPr>
                      <a:r>
                        <a:t>S. no</a:t>
                      </a:r>
                    </a:p>
                  </a:txBody>
                  <a:tcPr/>
                </a:tc>
                <a:tc>
                  <a:txBody>
                    <a:bodyPr/>
                    <a:lstStyle/>
                    <a:p>
                      <a:pPr algn="ctr">
                        <a:defRPr b="1" sz="950"/>
                      </a:pPr>
                      <a:r>
                        <a:t>Title, Authors</a:t>
                      </a:r>
                    </a:p>
                  </a:txBody>
                  <a:tcPr/>
                </a:tc>
                <a:tc>
                  <a:txBody>
                    <a:bodyPr/>
                    <a:lstStyle/>
                    <a:p>
                      <a:pPr algn="ctr">
                        <a:defRPr b="1" sz="950"/>
                      </a:pPr>
                      <a:r>
                        <a:t>Dataset</a:t>
                      </a:r>
                    </a:p>
                  </a:txBody>
                  <a:tcPr/>
                </a:tc>
                <a:tc>
                  <a:txBody>
                    <a:bodyPr/>
                    <a:lstStyle/>
                    <a:p>
                      <a:pPr algn="ctr">
                        <a:defRPr b="1" sz="950"/>
                      </a:pPr>
                      <a:r>
                        <a:t>Methodology</a:t>
                      </a:r>
                    </a:p>
                  </a:txBody>
                  <a:tcPr/>
                </a:tc>
                <a:tc>
                  <a:txBody>
                    <a:bodyPr/>
                    <a:lstStyle/>
                    <a:p>
                      <a:pPr algn="ctr">
                        <a:defRPr b="1" sz="950"/>
                      </a:pPr>
                      <a:r>
                        <a:t>Strengths</a:t>
                      </a:r>
                    </a:p>
                  </a:txBody>
                  <a:tcPr/>
                </a:tc>
                <a:tc>
                  <a:txBody>
                    <a:bodyPr/>
                    <a:lstStyle/>
                    <a:p>
                      <a:pPr algn="ctr">
                        <a:defRPr b="1" sz="950"/>
                      </a:pPr>
                      <a:r>
                        <a:t>Weakness</a:t>
                      </a:r>
                    </a:p>
                  </a:txBody>
                  <a:tcPr/>
                </a:tc>
                <a:tc>
                  <a:txBody>
                    <a:bodyPr/>
                    <a:lstStyle/>
                    <a:p>
                      <a:pPr algn="ctr">
                        <a:defRPr b="1" sz="950"/>
                      </a:pPr>
                      <a:r>
                        <a:t>Evaluation Metrics</a:t>
                      </a:r>
                    </a:p>
                  </a:txBody>
                  <a:tcPr/>
                </a:tc>
                <a:tc>
                  <a:txBody>
                    <a:bodyPr/>
                    <a:lstStyle/>
                    <a:p>
                      <a:pPr algn="ctr">
                        <a:defRPr b="1" sz="950"/>
                      </a:pPr>
                      <a:r>
                        <a:t>Year</a:t>
                      </a:r>
                    </a:p>
                  </a:txBody>
                  <a:tcPr/>
                </a:tc>
                <a:tc>
                  <a:txBody>
                    <a:bodyPr/>
                    <a:lstStyle/>
                    <a:p>
                      <a:pPr algn="ctr">
                        <a:defRPr b="1" sz="950"/>
                      </a:pPr>
                      <a:r>
                        <a:t>Link</a:t>
                      </a:r>
                    </a:p>
                  </a:txBody>
                  <a:tcPr/>
                </a:tc>
              </a:tr>
              <a:tr h="1310640">
                <a:tc>
                  <a:txBody>
                    <a:bodyPr/>
                    <a:lstStyle/>
                    <a:p>
                      <a:pPr>
                        <a:defRPr sz="850"/>
                      </a:pPr>
                      <a:r>
                        <a:t>1</a:t>
                      </a:r>
                    </a:p>
                  </a:txBody>
                  <a:tcPr/>
                </a:tc>
                <a:tc>
                  <a:txBody>
                    <a:bodyPr/>
                    <a:lstStyle/>
                    <a:p>
                      <a:pPr>
                        <a:defRPr sz="850"/>
                      </a:pPr>
                      <a:r>
                        <a:t>Deep Learning for Rooftop Solar Potential Estimation Using High-Res Satellite Imagery — Zhang, Wang, Li</a:t>
                      </a:r>
                    </a:p>
                  </a:txBody>
                  <a:tcPr/>
                </a:tc>
                <a:tc>
                  <a:txBody>
                    <a:bodyPr/>
                    <a:lstStyle/>
                    <a:p>
                      <a:pPr>
                        <a:defRPr sz="850"/>
                      </a:pPr>
                      <a:r>
                        <a:t>AIRS Dataset; 10,000+ aerial tiles (0.075 m/px)</a:t>
                      </a:r>
                    </a:p>
                  </a:txBody>
                  <a:tcPr/>
                </a:tc>
                <a:tc>
                  <a:txBody>
                    <a:bodyPr/>
                    <a:lstStyle/>
                    <a:p>
                      <a:pPr>
                        <a:defRPr sz="850"/>
                      </a:pPr>
                      <a:r>
                        <a:t>Modified U-Net with ResNet-34 encoder; morphological polygonization; NREL PVWatts</a:t>
                      </a:r>
                    </a:p>
                  </a:txBody>
                  <a:tcPr/>
                </a:tc>
                <a:tc>
                  <a:txBody>
                    <a:bodyPr/>
                    <a:lstStyle/>
                    <a:p>
                      <a:pPr>
                        <a:defRPr sz="850"/>
                      </a:pPr>
                      <a:r>
                        <a:t>High segmentation accuracy on suburban houses; automated end-to-end processing pipeline</a:t>
                      </a:r>
                    </a:p>
                  </a:txBody>
                  <a:tcPr/>
                </a:tc>
                <a:tc>
                  <a:txBody>
                    <a:bodyPr/>
                    <a:lstStyle/>
                    <a:p>
                      <a:pPr>
                        <a:defRPr sz="850"/>
                      </a:pPr>
                      <a:r>
                        <a:t>High false positives on skyscraper facades due to off-nadir tilt; no interactive editing tool</a:t>
                      </a:r>
                    </a:p>
                  </a:txBody>
                  <a:tcPr/>
                </a:tc>
                <a:tc>
                  <a:txBody>
                    <a:bodyPr/>
                    <a:lstStyle/>
                    <a:p>
                      <a:pPr>
                        <a:defRPr sz="850"/>
                      </a:pPr>
                      <a:r>
                        <a:t>IoU: 88.4%, Precision: 91.2%, Recall: 87.5%, Area Error: ±6.2%</a:t>
                      </a:r>
                    </a:p>
                  </a:txBody>
                  <a:tcPr/>
                </a:tc>
                <a:tc>
                  <a:txBody>
                    <a:bodyPr/>
                    <a:lstStyle/>
                    <a:p>
                      <a:pPr>
                        <a:defRPr sz="850"/>
                      </a:pPr>
                      <a:r>
                        <a:t>2024</a:t>
                      </a:r>
                    </a:p>
                  </a:txBody>
                  <a:tcPr/>
                </a:tc>
                <a:tc>
                  <a:txBody>
                    <a:bodyPr/>
                    <a:lstStyle/>
                    <a:p>
                      <a:pPr>
                        <a:defRPr sz="850"/>
                      </a:pPr>
                      <a:r>
                        <a:t>IEEE TGRS / DOI:10.1109/TGRS.2024.3361201</a:t>
                      </a:r>
                    </a:p>
                  </a:txBody>
                  <a:tcPr/>
                </a:tc>
              </a:tr>
              <a:tr h="1310640">
                <a:tc>
                  <a:txBody>
                    <a:bodyPr/>
                    <a:lstStyle/>
                    <a:p>
                      <a:pPr>
                        <a:defRPr sz="850"/>
                      </a:pPr>
                      <a:r>
                        <a:t>2</a:t>
                      </a:r>
                    </a:p>
                  </a:txBody>
                  <a:tcPr/>
                </a:tc>
                <a:tc>
                  <a:txBody>
                    <a:bodyPr/>
                    <a:lstStyle/>
                    <a:p>
                      <a:pPr>
                        <a:defRPr sz="850"/>
                      </a:pPr>
                      <a:r>
                        <a:t>Automated Large-Scale Assessment of Urban Rooftop PV Potential Using Orthophotos — Assouline et al.</a:t>
                      </a:r>
                    </a:p>
                  </a:txBody>
                  <a:tcPr/>
                </a:tc>
                <a:tc>
                  <a:txBody>
                    <a:bodyPr/>
                    <a:lstStyle/>
                    <a:p>
                      <a:pPr>
                        <a:defRPr sz="850"/>
                      </a:pPr>
                      <a:r>
                        <a:t>Swisstopo aerial orthophotos (0.25 m/px) + 3D Building Points</a:t>
                      </a:r>
                    </a:p>
                  </a:txBody>
                  <a:tcPr/>
                </a:tc>
                <a:tc>
                  <a:txBody>
                    <a:bodyPr/>
                    <a:lstStyle/>
                    <a:p>
                      <a:pPr>
                        <a:defRPr sz="850"/>
                      </a:pPr>
                      <a:r>
                        <a:t>Random Forests, SVM, and GIS solar radiation insolation modeling</a:t>
                      </a:r>
                    </a:p>
                  </a:txBody>
                  <a:tcPr/>
                </a:tc>
                <a:tc>
                  <a:txBody>
                    <a:bodyPr/>
                    <a:lstStyle/>
                    <a:p>
                      <a:pPr>
                        <a:defRPr sz="850"/>
                      </a:pPr>
                      <a:r>
                        <a:t>City-wide scalability across 2.5M roofs; incorporates hillshade, aspect, and superstructures</a:t>
                      </a:r>
                    </a:p>
                  </a:txBody>
                  <a:tcPr/>
                </a:tc>
                <a:tc>
                  <a:txBody>
                    <a:bodyPr/>
                    <a:lstStyle/>
                    <a:p>
                      <a:pPr>
                        <a:defRPr sz="850"/>
                      </a:pPr>
                      <a:r>
                        <a:t>Heavy dependency on expensive national LiDAR point clouds; inapplicable in developing nations</a:t>
                      </a:r>
                    </a:p>
                  </a:txBody>
                  <a:tcPr/>
                </a:tc>
                <a:tc>
                  <a:txBody>
                    <a:bodyPr/>
                    <a:lstStyle/>
                    <a:p>
                      <a:pPr>
                        <a:defRPr sz="850"/>
                      </a:pPr>
                      <a:r>
                        <a:t>R²: 0.89, RMSE: 14.2 kWh/m², Mean Absolute Error: 7.8%</a:t>
                      </a:r>
                    </a:p>
                  </a:txBody>
                  <a:tcPr/>
                </a:tc>
                <a:tc>
                  <a:txBody>
                    <a:bodyPr/>
                    <a:lstStyle/>
                    <a:p>
                      <a:pPr>
                        <a:defRPr sz="850"/>
                      </a:pPr>
                      <a:r>
                        <a:t>2023</a:t>
                      </a:r>
                    </a:p>
                  </a:txBody>
                  <a:tcPr/>
                </a:tc>
                <a:tc>
                  <a:txBody>
                    <a:bodyPr/>
                    <a:lstStyle/>
                    <a:p>
                      <a:pPr>
                        <a:defRPr sz="850"/>
                      </a:pPr>
                      <a:r>
                        <a:t>Applied Energy / DOI:10.1016/j.apenergy.2023.119852</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9</a:t>
            </a:r>
          </a:p>
        </p:txBody>
      </p:sp>
      <p:sp>
        <p:nvSpPr>
          <p:cNvPr id="7" name="TextBox 6"/>
          <p:cNvSpPr txBox="1"/>
          <p:nvPr/>
        </p:nvSpPr>
        <p:spPr>
          <a:xfrm>
            <a:off x="914400" y="1371600"/>
            <a:ext cx="10362895" cy="548640"/>
          </a:xfrm>
          <a:prstGeom prst="rect">
            <a:avLst/>
          </a:prstGeom>
          <a:noFill/>
        </p:spPr>
        <p:txBody>
          <a:bodyPr wrap="none">
            <a:spAutoFit/>
          </a:bodyPr>
          <a:lstStyle/>
          <a:p>
            <a:pPr algn="ctr">
              <a:defRPr sz="2400" b="1">
                <a:solidFill>
                  <a:srgbClr val="1F2937"/>
                </a:solidFill>
                <a:latin typeface="Georgia"/>
              </a:defRPr>
            </a:pPr>
            <a:r>
              <a:t>Literature Survey: Master Comparative Matrix (Part 2)</a:t>
            </a:r>
          </a:p>
        </p:txBody>
      </p:sp>
      <p:graphicFrame>
        <p:nvGraphicFramePr>
          <p:cNvPr id="8" name="Table 7"/>
          <p:cNvGraphicFramePr>
            <a:graphicFrameLocks noGrp="1"/>
          </p:cNvGraphicFramePr>
          <p:nvPr/>
        </p:nvGraphicFramePr>
        <p:xfrm>
          <a:off x="548640" y="2011680"/>
          <a:ext cx="11091672" cy="3931920"/>
        </p:xfrm>
        <a:graphic>
          <a:graphicData uri="http://schemas.openxmlformats.org/drawingml/2006/table">
            <a:tbl>
              <a:tblPr firstRow="1" bandRow="1">
                <a:tableStyleId>{5C22544A-7EE6-4342-B048-85BDC9FD1C3A}</a:tableStyleId>
              </a:tblPr>
              <a:tblGrid>
                <a:gridCol w="457200"/>
                <a:gridCol w="2011680"/>
                <a:gridCol w="1188720"/>
                <a:gridCol w="1828800"/>
                <a:gridCol w="1645920"/>
                <a:gridCol w="1645920"/>
                <a:gridCol w="1280160"/>
                <a:gridCol w="502920"/>
                <a:gridCol w="530352"/>
              </a:tblGrid>
              <a:tr h="1310640">
                <a:tc>
                  <a:txBody>
                    <a:bodyPr/>
                    <a:lstStyle/>
                    <a:p>
                      <a:pPr algn="ctr">
                        <a:defRPr b="1" sz="950"/>
                      </a:pPr>
                      <a:r>
                        <a:t>S. no</a:t>
                      </a:r>
                    </a:p>
                  </a:txBody>
                  <a:tcPr/>
                </a:tc>
                <a:tc>
                  <a:txBody>
                    <a:bodyPr/>
                    <a:lstStyle/>
                    <a:p>
                      <a:pPr algn="ctr">
                        <a:defRPr b="1" sz="950"/>
                      </a:pPr>
                      <a:r>
                        <a:t>Title, Authors</a:t>
                      </a:r>
                    </a:p>
                  </a:txBody>
                  <a:tcPr/>
                </a:tc>
                <a:tc>
                  <a:txBody>
                    <a:bodyPr/>
                    <a:lstStyle/>
                    <a:p>
                      <a:pPr algn="ctr">
                        <a:defRPr b="1" sz="950"/>
                      </a:pPr>
                      <a:r>
                        <a:t>Dataset</a:t>
                      </a:r>
                    </a:p>
                  </a:txBody>
                  <a:tcPr/>
                </a:tc>
                <a:tc>
                  <a:txBody>
                    <a:bodyPr/>
                    <a:lstStyle/>
                    <a:p>
                      <a:pPr algn="ctr">
                        <a:defRPr b="1" sz="950"/>
                      </a:pPr>
                      <a:r>
                        <a:t>Methodology</a:t>
                      </a:r>
                    </a:p>
                  </a:txBody>
                  <a:tcPr/>
                </a:tc>
                <a:tc>
                  <a:txBody>
                    <a:bodyPr/>
                    <a:lstStyle/>
                    <a:p>
                      <a:pPr algn="ctr">
                        <a:defRPr b="1" sz="950"/>
                      </a:pPr>
                      <a:r>
                        <a:t>Strengths</a:t>
                      </a:r>
                    </a:p>
                  </a:txBody>
                  <a:tcPr/>
                </a:tc>
                <a:tc>
                  <a:txBody>
                    <a:bodyPr/>
                    <a:lstStyle/>
                    <a:p>
                      <a:pPr algn="ctr">
                        <a:defRPr b="1" sz="950"/>
                      </a:pPr>
                      <a:r>
                        <a:t>Weakness</a:t>
                      </a:r>
                    </a:p>
                  </a:txBody>
                  <a:tcPr/>
                </a:tc>
                <a:tc>
                  <a:txBody>
                    <a:bodyPr/>
                    <a:lstStyle/>
                    <a:p>
                      <a:pPr algn="ctr">
                        <a:defRPr b="1" sz="950"/>
                      </a:pPr>
                      <a:r>
                        <a:t>Evaluation Metrics</a:t>
                      </a:r>
                    </a:p>
                  </a:txBody>
                  <a:tcPr/>
                </a:tc>
                <a:tc>
                  <a:txBody>
                    <a:bodyPr/>
                    <a:lstStyle/>
                    <a:p>
                      <a:pPr algn="ctr">
                        <a:defRPr b="1" sz="950"/>
                      </a:pPr>
                      <a:r>
                        <a:t>Year</a:t>
                      </a:r>
                    </a:p>
                  </a:txBody>
                  <a:tcPr/>
                </a:tc>
                <a:tc>
                  <a:txBody>
                    <a:bodyPr/>
                    <a:lstStyle/>
                    <a:p>
                      <a:pPr algn="ctr">
                        <a:defRPr b="1" sz="950"/>
                      </a:pPr>
                      <a:r>
                        <a:t>Link</a:t>
                      </a:r>
                    </a:p>
                  </a:txBody>
                  <a:tcPr/>
                </a:tc>
              </a:tr>
              <a:tr h="1310640">
                <a:tc>
                  <a:txBody>
                    <a:bodyPr/>
                    <a:lstStyle/>
                    <a:p>
                      <a:pPr>
                        <a:defRPr sz="850"/>
                      </a:pPr>
                      <a:r>
                        <a:t>3</a:t>
                      </a:r>
                    </a:p>
                  </a:txBody>
                  <a:tcPr/>
                </a:tc>
                <a:tc>
                  <a:txBody>
                    <a:bodyPr/>
                    <a:lstStyle/>
                    <a:p>
                      <a:pPr>
                        <a:defRPr sz="850"/>
                      </a:pPr>
                      <a:r>
                        <a:t>Mask R-CNN for Rooftop Solar Panel Suitability and Shading Analysis — Kumar, V., &amp; Rao, P. K.</a:t>
                      </a:r>
                    </a:p>
                  </a:txBody>
                  <a:tcPr/>
                </a:tc>
                <a:tc>
                  <a:txBody>
                    <a:bodyPr/>
                    <a:lstStyle/>
                    <a:p>
                      <a:pPr>
                        <a:defRPr sz="850"/>
                      </a:pPr>
                      <a:r>
                        <a:t>SpaceNet 2 Challenge dataset &amp; Bengaluru satellite tiles</a:t>
                      </a:r>
                    </a:p>
                  </a:txBody>
                  <a:tcPr/>
                </a:tc>
                <a:tc>
                  <a:txBody>
                    <a:bodyPr/>
                    <a:lstStyle/>
                    <a:p>
                      <a:pPr>
                        <a:defRPr sz="850"/>
                      </a:pPr>
                      <a:r>
                        <a:t>Mask R-CNN instance segmentation coupled with solar ray-tracing for diurnal shadow tracking</a:t>
                      </a:r>
                    </a:p>
                  </a:txBody>
                  <a:tcPr/>
                </a:tc>
                <a:tc>
                  <a:txBody>
                    <a:bodyPr/>
                    <a:lstStyle/>
                    <a:p>
                      <a:pPr>
                        <a:defRPr sz="850"/>
                      </a:pPr>
                      <a:r>
                        <a:t>Separates individual multi-pitch roof facets; estimates localized parapet shadow losses</a:t>
                      </a:r>
                    </a:p>
                  </a:txBody>
                  <a:tcPr/>
                </a:tc>
                <a:tc>
                  <a:txBody>
                    <a:bodyPr/>
                    <a:lstStyle/>
                    <a:p>
                      <a:pPr>
                        <a:defRPr sz="850"/>
                      </a:pPr>
                      <a:r>
                        <a:t>Struggles with low-contrast rural concrete terraces; slow inference time on web clients</a:t>
                      </a:r>
                    </a:p>
                  </a:txBody>
                  <a:tcPr/>
                </a:tc>
                <a:tc>
                  <a:txBody>
                    <a:bodyPr/>
                    <a:lstStyle/>
                    <a:p>
                      <a:pPr>
                        <a:defRPr sz="850"/>
                      </a:pPr>
                      <a:r>
                        <a:t>mAP@0.5: 86.1%, F1-Score: 88.2%, Capacity Deviation: 8.4%</a:t>
                      </a:r>
                    </a:p>
                  </a:txBody>
                  <a:tcPr/>
                </a:tc>
                <a:tc>
                  <a:txBody>
                    <a:bodyPr/>
                    <a:lstStyle/>
                    <a:p>
                      <a:pPr>
                        <a:defRPr sz="850"/>
                      </a:pPr>
                      <a:r>
                        <a:t>2024</a:t>
                      </a:r>
                    </a:p>
                  </a:txBody>
                  <a:tcPr/>
                </a:tc>
                <a:tc>
                  <a:txBody>
                    <a:bodyPr/>
                    <a:lstStyle/>
                    <a:p>
                      <a:pPr>
                        <a:defRPr sz="850"/>
                      </a:pPr>
                      <a:r>
                        <a:t>Solar Energy / DOI:10.1016/j.solener.2024.112450</a:t>
                      </a:r>
                    </a:p>
                  </a:txBody>
                  <a:tcPr/>
                </a:tc>
              </a:tr>
              <a:tr h="1310640">
                <a:tc>
                  <a:txBody>
                    <a:bodyPr/>
                    <a:lstStyle/>
                    <a:p>
                      <a:pPr>
                        <a:defRPr sz="850"/>
                      </a:pPr>
                      <a:r>
                        <a:t>4</a:t>
                      </a:r>
                    </a:p>
                  </a:txBody>
                  <a:tcPr/>
                </a:tc>
                <a:tc>
                  <a:txBody>
                    <a:bodyPr/>
                    <a:lstStyle/>
                    <a:p>
                      <a:pPr>
                        <a:defRPr sz="850"/>
                      </a:pPr>
                      <a:r>
                        <a:t>Evaluating Machine Learning Models for Rooftop Detection from Multi-Resolution Satellite Data — Chen &amp; Miller</a:t>
                      </a:r>
                    </a:p>
                  </a:txBody>
                  <a:tcPr/>
                </a:tc>
                <a:tc>
                  <a:txBody>
                    <a:bodyPr/>
                    <a:lstStyle/>
                    <a:p>
                      <a:pPr>
                        <a:defRPr sz="850"/>
                      </a:pPr>
                      <a:r>
                        <a:t>Sentinel-2 (10m), PlanetScope (3m), WorldView-3 (0.3m)</a:t>
                      </a:r>
                    </a:p>
                  </a:txBody>
                  <a:tcPr/>
                </a:tc>
                <a:tc>
                  <a:txBody>
                    <a:bodyPr/>
                    <a:lstStyle/>
                    <a:p>
                      <a:pPr>
                        <a:defRPr sz="850"/>
                      </a:pPr>
                      <a:r>
                        <a:t>Comparative benchmark of YOLOv8-seg, SegNet, and DeepLabV3+ with HSV color thresholding</a:t>
                      </a:r>
                    </a:p>
                  </a:txBody>
                  <a:tcPr/>
                </a:tc>
                <a:tc>
                  <a:txBody>
                    <a:bodyPr/>
                    <a:lstStyle/>
                    <a:p>
                      <a:pPr>
                        <a:defRPr sz="850"/>
                      </a:pPr>
                      <a:r>
                        <a:t>Establishes exact Ground Sample Distance (GSD) thresholds needed for solar engineering feasibility</a:t>
                      </a:r>
                    </a:p>
                  </a:txBody>
                  <a:tcPr/>
                </a:tc>
                <a:tc>
                  <a:txBody>
                    <a:bodyPr/>
                    <a:lstStyle/>
                    <a:p>
                      <a:pPr>
                        <a:defRPr sz="850"/>
                      </a:pPr>
                      <a:r>
                        <a:t>Proves that below 0.3 m/px GSD, automated algorithms merge adjacent roofs into one giant polygon</a:t>
                      </a:r>
                    </a:p>
                  </a:txBody>
                  <a:tcPr/>
                </a:tc>
                <a:tc>
                  <a:txBody>
                    <a:bodyPr/>
                    <a:lstStyle/>
                    <a:p>
                      <a:pPr>
                        <a:defRPr sz="850"/>
                      </a:pPr>
                      <a:r>
                        <a:t>IoU: 82.3% (0.3m) vs 41.2% (3m), Boundary F-score: 84.7%</a:t>
                      </a:r>
                    </a:p>
                  </a:txBody>
                  <a:tcPr/>
                </a:tc>
                <a:tc>
                  <a:txBody>
                    <a:bodyPr/>
                    <a:lstStyle/>
                    <a:p>
                      <a:pPr>
                        <a:defRPr sz="850"/>
                      </a:pPr>
                      <a:r>
                        <a:t>2025</a:t>
                      </a:r>
                    </a:p>
                  </a:txBody>
                  <a:tcPr/>
                </a:tc>
                <a:tc>
                  <a:txBody>
                    <a:bodyPr/>
                    <a:lstStyle/>
                    <a:p>
                      <a:pPr>
                        <a:defRPr sz="850"/>
                      </a:pPr>
                      <a:r>
                        <a:t>Remote Sensing / arXiv:2501.08412</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10</a:t>
            </a:r>
          </a:p>
        </p:txBody>
      </p:sp>
      <p:sp>
        <p:nvSpPr>
          <p:cNvPr id="7" name="TextBox 6"/>
          <p:cNvSpPr txBox="1"/>
          <p:nvPr/>
        </p:nvSpPr>
        <p:spPr>
          <a:xfrm>
            <a:off x="914400" y="1371600"/>
            <a:ext cx="10362895" cy="548640"/>
          </a:xfrm>
          <a:prstGeom prst="rect">
            <a:avLst/>
          </a:prstGeom>
          <a:noFill/>
        </p:spPr>
        <p:txBody>
          <a:bodyPr wrap="none">
            <a:spAutoFit/>
          </a:bodyPr>
          <a:lstStyle/>
          <a:p>
            <a:pPr algn="ctr">
              <a:defRPr sz="2400" b="1">
                <a:solidFill>
                  <a:srgbClr val="1F2937"/>
                </a:solidFill>
                <a:latin typeface="Georgia"/>
              </a:defRPr>
            </a:pPr>
            <a:r>
              <a:t>Literature Survey: Master Comparative Matrix (Part 3)</a:t>
            </a:r>
          </a:p>
        </p:txBody>
      </p:sp>
      <p:graphicFrame>
        <p:nvGraphicFramePr>
          <p:cNvPr id="8" name="Table 7"/>
          <p:cNvGraphicFramePr>
            <a:graphicFrameLocks noGrp="1"/>
          </p:cNvGraphicFramePr>
          <p:nvPr/>
        </p:nvGraphicFramePr>
        <p:xfrm>
          <a:off x="548640" y="2011680"/>
          <a:ext cx="11091672" cy="3931920"/>
        </p:xfrm>
        <a:graphic>
          <a:graphicData uri="http://schemas.openxmlformats.org/drawingml/2006/table">
            <a:tbl>
              <a:tblPr firstRow="1" bandRow="1">
                <a:tableStyleId>{5C22544A-7EE6-4342-B048-85BDC9FD1C3A}</a:tableStyleId>
              </a:tblPr>
              <a:tblGrid>
                <a:gridCol w="457200"/>
                <a:gridCol w="2011680"/>
                <a:gridCol w="1188720"/>
                <a:gridCol w="1828800"/>
                <a:gridCol w="1645920"/>
                <a:gridCol w="1645920"/>
                <a:gridCol w="1280160"/>
                <a:gridCol w="502920"/>
                <a:gridCol w="530352"/>
              </a:tblGrid>
              <a:tr h="1310640">
                <a:tc>
                  <a:txBody>
                    <a:bodyPr/>
                    <a:lstStyle/>
                    <a:p>
                      <a:pPr algn="ctr">
                        <a:defRPr b="1" sz="950"/>
                      </a:pPr>
                      <a:r>
                        <a:t>S. no</a:t>
                      </a:r>
                    </a:p>
                  </a:txBody>
                  <a:tcPr/>
                </a:tc>
                <a:tc>
                  <a:txBody>
                    <a:bodyPr/>
                    <a:lstStyle/>
                    <a:p>
                      <a:pPr algn="ctr">
                        <a:defRPr b="1" sz="950"/>
                      </a:pPr>
                      <a:r>
                        <a:t>Title, Authors</a:t>
                      </a:r>
                    </a:p>
                  </a:txBody>
                  <a:tcPr/>
                </a:tc>
                <a:tc>
                  <a:txBody>
                    <a:bodyPr/>
                    <a:lstStyle/>
                    <a:p>
                      <a:pPr algn="ctr">
                        <a:defRPr b="1" sz="950"/>
                      </a:pPr>
                      <a:r>
                        <a:t>Dataset</a:t>
                      </a:r>
                    </a:p>
                  </a:txBody>
                  <a:tcPr/>
                </a:tc>
                <a:tc>
                  <a:txBody>
                    <a:bodyPr/>
                    <a:lstStyle/>
                    <a:p>
                      <a:pPr algn="ctr">
                        <a:defRPr b="1" sz="950"/>
                      </a:pPr>
                      <a:r>
                        <a:t>Methodology</a:t>
                      </a:r>
                    </a:p>
                  </a:txBody>
                  <a:tcPr/>
                </a:tc>
                <a:tc>
                  <a:txBody>
                    <a:bodyPr/>
                    <a:lstStyle/>
                    <a:p>
                      <a:pPr algn="ctr">
                        <a:defRPr b="1" sz="950"/>
                      </a:pPr>
                      <a:r>
                        <a:t>Strengths</a:t>
                      </a:r>
                    </a:p>
                  </a:txBody>
                  <a:tcPr/>
                </a:tc>
                <a:tc>
                  <a:txBody>
                    <a:bodyPr/>
                    <a:lstStyle/>
                    <a:p>
                      <a:pPr algn="ctr">
                        <a:defRPr b="1" sz="950"/>
                      </a:pPr>
                      <a:r>
                        <a:t>Weakness</a:t>
                      </a:r>
                    </a:p>
                  </a:txBody>
                  <a:tcPr/>
                </a:tc>
                <a:tc>
                  <a:txBody>
                    <a:bodyPr/>
                    <a:lstStyle/>
                    <a:p>
                      <a:pPr algn="ctr">
                        <a:defRPr b="1" sz="950"/>
                      </a:pPr>
                      <a:r>
                        <a:t>Evaluation Metrics</a:t>
                      </a:r>
                    </a:p>
                  </a:txBody>
                  <a:tcPr/>
                </a:tc>
                <a:tc>
                  <a:txBody>
                    <a:bodyPr/>
                    <a:lstStyle/>
                    <a:p>
                      <a:pPr algn="ctr">
                        <a:defRPr b="1" sz="950"/>
                      </a:pPr>
                      <a:r>
                        <a:t>Year</a:t>
                      </a:r>
                    </a:p>
                  </a:txBody>
                  <a:tcPr/>
                </a:tc>
                <a:tc>
                  <a:txBody>
                    <a:bodyPr/>
                    <a:lstStyle/>
                    <a:p>
                      <a:pPr algn="ctr">
                        <a:defRPr b="1" sz="950"/>
                      </a:pPr>
                      <a:r>
                        <a:t>Link</a:t>
                      </a:r>
                    </a:p>
                  </a:txBody>
                  <a:tcPr/>
                </a:tc>
              </a:tr>
              <a:tr h="1310640">
                <a:tc>
                  <a:txBody>
                    <a:bodyPr/>
                    <a:lstStyle/>
                    <a:p>
                      <a:pPr>
                        <a:defRPr sz="850"/>
                      </a:pPr>
                      <a:r>
                        <a:t>5</a:t>
                      </a:r>
                    </a:p>
                  </a:txBody>
                  <a:tcPr/>
                </a:tc>
                <a:tc>
                  <a:txBody>
                    <a:bodyPr/>
                    <a:lstStyle/>
                    <a:p>
                      <a:pPr>
                        <a:defRPr sz="850"/>
                      </a:pPr>
                      <a:r>
                        <a:t>Techno-Economic and Decarbonization Modeling of Decentralized PV in Developing Nations — Sharma &amp; Banerjee</a:t>
                      </a:r>
                    </a:p>
                  </a:txBody>
                  <a:tcPr/>
                </a:tc>
                <a:tc>
                  <a:txBody>
                    <a:bodyPr/>
                    <a:lstStyle/>
                    <a:p>
                      <a:pPr>
                        <a:defRPr sz="850"/>
                      </a:pPr>
                      <a:r>
                        <a:t>Indian CEA Grid Database + NASA POWER Climatology</a:t>
                      </a:r>
                    </a:p>
                  </a:txBody>
                  <a:tcPr/>
                </a:tc>
                <a:tc>
                  <a:txBody>
                    <a:bodyPr/>
                    <a:lstStyle/>
                    <a:p>
                      <a:pPr>
                        <a:defRPr sz="850"/>
                      </a:pPr>
                      <a:r>
                        <a:t>Empirical physical modeling incorporating compound PV derating and regional grid tariffs</a:t>
                      </a:r>
                    </a:p>
                  </a:txBody>
                  <a:tcPr/>
                </a:tc>
                <a:tc>
                  <a:txBody>
                    <a:bodyPr/>
                    <a:lstStyle/>
                    <a:p>
                      <a:pPr>
                        <a:defRPr sz="850"/>
                      </a:pPr>
                      <a:r>
                        <a:t>Real-world Indian grid factors (0.82–0.94 kg CO₂/kWh); accurate 25-yr financial payback equations</a:t>
                      </a:r>
                    </a:p>
                  </a:txBody>
                  <a:tcPr/>
                </a:tc>
                <a:tc>
                  <a:txBody>
                    <a:bodyPr/>
                    <a:lstStyle/>
                    <a:p>
                      <a:pPr>
                        <a:defRPr sz="850"/>
                      </a:pPr>
                      <a:r>
                        <a:t>Pure mathematical formulation lacking automated spatial satellite boundary extraction</a:t>
                      </a:r>
                    </a:p>
                  </a:txBody>
                  <a:tcPr/>
                </a:tc>
                <a:tc>
                  <a:txBody>
                    <a:bodyPr/>
                    <a:lstStyle/>
                    <a:p>
                      <a:pPr>
                        <a:defRPr sz="850"/>
                      </a:pPr>
                      <a:r>
                        <a:t>Levelized Cost of Electricity (LCOE), Payback Period (Yrs), Lifetime ROI (%)</a:t>
                      </a:r>
                    </a:p>
                  </a:txBody>
                  <a:tcPr/>
                </a:tc>
                <a:tc>
                  <a:txBody>
                    <a:bodyPr/>
                    <a:lstStyle/>
                    <a:p>
                      <a:pPr>
                        <a:defRPr sz="850"/>
                      </a:pPr>
                      <a:r>
                        <a:t>2024</a:t>
                      </a:r>
                    </a:p>
                  </a:txBody>
                  <a:tcPr/>
                </a:tc>
                <a:tc>
                  <a:txBody>
                    <a:bodyPr/>
                    <a:lstStyle/>
                    <a:p>
                      <a:pPr>
                        <a:defRPr sz="850"/>
                      </a:pPr>
                      <a:r>
                        <a:t>Renewable Reviews / DOI:10.1016/j.rser.2024.114320</a:t>
                      </a:r>
                    </a:p>
                  </a:txBody>
                  <a:tcPr/>
                </a:tc>
              </a:tr>
              <a:tr h="1310640">
                <a:tc>
                  <a:txBody>
                    <a:bodyPr/>
                    <a:lstStyle/>
                    <a:p>
                      <a:pPr>
                        <a:defRPr sz="850"/>
                      </a:pPr>
                      <a:r>
                        <a:t>6</a:t>
                      </a:r>
                    </a:p>
                  </a:txBody>
                  <a:tcPr/>
                </a:tc>
                <a:tc>
                  <a:txBody>
                    <a:bodyPr/>
                    <a:lstStyle/>
                    <a:p>
                      <a:pPr>
                        <a:defRPr sz="850"/>
                      </a:pPr>
                      <a:r>
                        <a:t>Semantic Segmentation of Complex Urban Roofs Using Multi-Scale Feature Aggregation — Huang, Y. et al.</a:t>
                      </a:r>
                    </a:p>
                  </a:txBody>
                  <a:tcPr/>
                </a:tc>
                <a:tc>
                  <a:txBody>
                    <a:bodyPr/>
                    <a:lstStyle/>
                    <a:p>
                      <a:pPr>
                        <a:defRPr sz="850"/>
                      </a:pPr>
                      <a:r>
                        <a:t>ISPRS Potsdam &amp; Vaihingen Benchmark Datasets</a:t>
                      </a:r>
                    </a:p>
                  </a:txBody>
                  <a:tcPr/>
                </a:tc>
                <a:tc>
                  <a:txBody>
                    <a:bodyPr/>
                    <a:lstStyle/>
                    <a:p>
                      <a:pPr>
                        <a:defRPr sz="850"/>
                      </a:pPr>
                      <a:r>
                        <a:t>Attention-guided High-Resolution Network (HRNet) with Boundary Preservation Loss</a:t>
                      </a:r>
                    </a:p>
                  </a:txBody>
                  <a:tcPr/>
                </a:tc>
                <a:tc>
                  <a:txBody>
                    <a:bodyPr/>
                    <a:lstStyle/>
                    <a:p>
                      <a:pPr>
                        <a:defRPr sz="850"/>
                      </a:pPr>
                      <a:r>
                        <a:t>Superior boundary edge delineation on complex L-shaped and stepped residential roofs</a:t>
                      </a:r>
                    </a:p>
                  </a:txBody>
                  <a:tcPr/>
                </a:tc>
                <a:tc>
                  <a:txBody>
                    <a:bodyPr/>
                    <a:lstStyle/>
                    <a:p>
                      <a:pPr>
                        <a:defRPr sz="850"/>
                      </a:pPr>
                      <a:r>
                        <a:t>Computationally prohibitive; requires multi-GPU clusters for inference (unviable for web UI)</a:t>
                      </a:r>
                    </a:p>
                  </a:txBody>
                  <a:tcPr/>
                </a:tc>
                <a:tc>
                  <a:txBody>
                    <a:bodyPr/>
                    <a:lstStyle/>
                    <a:p>
                      <a:pPr>
                        <a:defRPr sz="850"/>
                      </a:pPr>
                      <a:r>
                        <a:t>Overall Accuracy: 92.6%, Mean IoU: 86.8%, Boundary Error: 1.8 px</a:t>
                      </a:r>
                    </a:p>
                  </a:txBody>
                  <a:tcPr/>
                </a:tc>
                <a:tc>
                  <a:txBody>
                    <a:bodyPr/>
                    <a:lstStyle/>
                    <a:p>
                      <a:pPr>
                        <a:defRPr sz="850"/>
                      </a:pPr>
                      <a:r>
                        <a:t>2024</a:t>
                      </a:r>
                    </a:p>
                  </a:txBody>
                  <a:tcPr/>
                </a:tc>
                <a:tc>
                  <a:txBody>
                    <a:bodyPr/>
                    <a:lstStyle/>
                    <a:p>
                      <a:pPr>
                        <a:defRPr sz="850"/>
                      </a:pPr>
                      <a:r>
                        <a:t>ISPRS Journal / DOI:10.1016/j.isprsjprs.2024.03.015</a:t>
                      </a:r>
                    </a:p>
                  </a:txBody>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11</a:t>
            </a:r>
          </a:p>
        </p:txBody>
      </p:sp>
      <p:sp>
        <p:nvSpPr>
          <p:cNvPr id="7" name="TextBox 6"/>
          <p:cNvSpPr txBox="1"/>
          <p:nvPr/>
        </p:nvSpPr>
        <p:spPr>
          <a:xfrm>
            <a:off x="914400" y="1371600"/>
            <a:ext cx="10362895" cy="640080"/>
          </a:xfrm>
          <a:prstGeom prst="rect">
            <a:avLst/>
          </a:prstGeom>
          <a:noFill/>
        </p:spPr>
        <p:txBody>
          <a:bodyPr wrap="none">
            <a:spAutoFit/>
          </a:bodyPr>
          <a:lstStyle/>
          <a:p>
            <a:pPr algn="ctr">
              <a:defRPr sz="2600" b="1">
                <a:solidFill>
                  <a:srgbClr val="1F2937"/>
                </a:solidFill>
                <a:latin typeface="Georgia"/>
              </a:defRPr>
            </a:pPr>
            <a:r>
              <a:t>Literature Survey - Base paper</a:t>
            </a:r>
          </a:p>
        </p:txBody>
      </p:sp>
      <p:sp>
        <p:nvSpPr>
          <p:cNvPr id="8" name="TextBox 7"/>
          <p:cNvSpPr txBox="1"/>
          <p:nvPr/>
        </p:nvSpPr>
        <p:spPr>
          <a:xfrm>
            <a:off x="1005840" y="2103120"/>
            <a:ext cx="10180015" cy="3931920"/>
          </a:xfrm>
          <a:prstGeom prst="rect">
            <a:avLst/>
          </a:prstGeom>
          <a:noFill/>
        </p:spPr>
        <p:txBody>
          <a:bodyPr wrap="square">
            <a:spAutoFit/>
          </a:bodyPr>
          <a:lstStyle/>
          <a:p>
            <a:pPr>
              <a:spcAft>
                <a:spcPts val="600"/>
              </a:spcAft>
              <a:defRPr b="1" sz="1450">
                <a:latin typeface="Roboto"/>
              </a:defRPr>
            </a:pPr>
            <a:r>
              <a:t>❑ Paper 1: Deep Learning for Rooftop Solar Potential Estimation Using High-Resolution Satellite Imagery</a:t>
            </a:r>
          </a:p>
          <a:p>
            <a:pPr>
              <a:spcAft>
                <a:spcPts val="600"/>
              </a:spcAft>
              <a:defRPr b="1" sz="1400"/>
            </a:pPr>
            <a:r>
              <a:t>❑ Authors: Zhang, J., Wang, S., and Li, X.</a:t>
            </a:r>
          </a:p>
          <a:p>
            <a:pPr>
              <a:spcAft>
                <a:spcPts val="1200"/>
              </a:spcAft>
              <a:defRPr b="1" sz="1400"/>
            </a:pPr>
            <a:r>
              <a:t>❑ Published by &amp; Year: IEEE Transactions on Geoscience and Remote Sensing (TGRS), 2024</a:t>
            </a:r>
          </a:p>
          <a:p>
            <a:pPr>
              <a:spcAft>
                <a:spcPts val="600"/>
              </a:spcAft>
              <a:defRPr sz="1350"/>
            </a:pPr>
            <a:r>
              <a:t>❑ This paper investigates automated rooftop boundary extraction from remote sensing orthophotos using deep convolutional networks. The authors trained a modified U-Net architecture with a ResNet-34 backbone on the Aerial Imagery for Roof Segmentation (AIRS) dataset containing over 10,000 aerial tiles at 0.075 m/px. Raster prediction masks are simplified into vector polygons using Douglas-Peucker polygonization and passed to NREL PVWatts to calculate annual energy generation. While achieving 88.4% IoU on standalone houses, the model suffered catastrophic over-segmentation on multi-story structures where off-nadir satellite tilt projects vertical building facade walls into the 2D plane. The study concluded that pure computer vision must be combined with interactive vector CAD editing tools to achieve reliable engineering fidelity.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12</a:t>
            </a:r>
          </a:p>
        </p:txBody>
      </p:sp>
      <p:sp>
        <p:nvSpPr>
          <p:cNvPr id="7" name="TextBox 6"/>
          <p:cNvSpPr txBox="1"/>
          <p:nvPr/>
        </p:nvSpPr>
        <p:spPr>
          <a:xfrm>
            <a:off x="914400" y="1371600"/>
            <a:ext cx="10362895" cy="640080"/>
          </a:xfrm>
          <a:prstGeom prst="rect">
            <a:avLst/>
          </a:prstGeom>
          <a:noFill/>
        </p:spPr>
        <p:txBody>
          <a:bodyPr wrap="none">
            <a:spAutoFit/>
          </a:bodyPr>
          <a:lstStyle/>
          <a:p>
            <a:pPr algn="ctr">
              <a:defRPr sz="2600" b="1">
                <a:solidFill>
                  <a:srgbClr val="1F2937"/>
                </a:solidFill>
                <a:latin typeface="Georgia"/>
              </a:defRPr>
            </a:pPr>
            <a:r>
              <a:t>Literature Survey - Base paper</a:t>
            </a:r>
          </a:p>
        </p:txBody>
      </p:sp>
      <p:sp>
        <p:nvSpPr>
          <p:cNvPr id="8" name="TextBox 7"/>
          <p:cNvSpPr txBox="1"/>
          <p:nvPr/>
        </p:nvSpPr>
        <p:spPr>
          <a:xfrm>
            <a:off x="1005840" y="2103120"/>
            <a:ext cx="10180015" cy="3931920"/>
          </a:xfrm>
          <a:prstGeom prst="rect">
            <a:avLst/>
          </a:prstGeom>
          <a:noFill/>
        </p:spPr>
        <p:txBody>
          <a:bodyPr wrap="square">
            <a:spAutoFit/>
          </a:bodyPr>
          <a:lstStyle/>
          <a:p>
            <a:pPr>
              <a:spcAft>
                <a:spcPts val="600"/>
              </a:spcAft>
              <a:defRPr b="1" sz="1450">
                <a:latin typeface="Roboto"/>
              </a:defRPr>
            </a:pPr>
            <a:r>
              <a:t>❑ Paper 2: Automated Large-Scale Assessment of Urban Rooftop Solar Photovoltaic Potential Using Aerial Orthophotos</a:t>
            </a:r>
          </a:p>
          <a:p>
            <a:pPr>
              <a:spcAft>
                <a:spcPts val="600"/>
              </a:spcAft>
              <a:defRPr b="1" sz="1400"/>
            </a:pPr>
            <a:r>
              <a:t>❑ Authors: Assouline, D., Mohajeri, N., and Scartezzini, J.-L.</a:t>
            </a:r>
          </a:p>
          <a:p>
            <a:pPr>
              <a:spcAft>
                <a:spcPts val="1200"/>
              </a:spcAft>
              <a:defRPr b="1" sz="1400"/>
            </a:pPr>
            <a:r>
              <a:t>❑ Published by &amp; Year: Applied Energy, Vol. 331, Elsevier, 2023</a:t>
            </a:r>
          </a:p>
          <a:p>
            <a:pPr>
              <a:spcAft>
                <a:spcPts val="600"/>
              </a:spcAft>
              <a:defRPr sz="1350"/>
            </a:pPr>
            <a:r>
              <a:t>❑ This paper proposes an automated machine learning framework to evaluate rooftop solar suitability across 2.5 million buildings in Switzerland. The authors extracted geometric and topological attributes (slope, aspect, roof superstructures, and parapet shading) using Random Forests and Support Vector Machines combined with high-density airborne LiDAR Digital Surface Models (DSM). The framework modeled solar insolation with an R² accuracy of 0.89. However, the methodology is completely contingent upon national airborne LiDAR datasets costing upwards of $1,000 per km², rendering it inapplicable for urban and rural solar assessments in developing nations like India where 3D LiDAR point clouds are non-existent.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13</a:t>
            </a:r>
          </a:p>
        </p:txBody>
      </p:sp>
      <p:sp>
        <p:nvSpPr>
          <p:cNvPr id="7" name="TextBox 6"/>
          <p:cNvSpPr txBox="1"/>
          <p:nvPr/>
        </p:nvSpPr>
        <p:spPr>
          <a:xfrm>
            <a:off x="914400" y="1371600"/>
            <a:ext cx="10362895" cy="640080"/>
          </a:xfrm>
          <a:prstGeom prst="rect">
            <a:avLst/>
          </a:prstGeom>
          <a:noFill/>
        </p:spPr>
        <p:txBody>
          <a:bodyPr wrap="none">
            <a:spAutoFit/>
          </a:bodyPr>
          <a:lstStyle/>
          <a:p>
            <a:pPr algn="ctr">
              <a:defRPr sz="2600" b="1">
                <a:solidFill>
                  <a:srgbClr val="1F2937"/>
                </a:solidFill>
                <a:latin typeface="Georgia"/>
              </a:defRPr>
            </a:pPr>
            <a:r>
              <a:t>Literature Survey - Base paper</a:t>
            </a:r>
          </a:p>
        </p:txBody>
      </p:sp>
      <p:sp>
        <p:nvSpPr>
          <p:cNvPr id="8" name="TextBox 7"/>
          <p:cNvSpPr txBox="1"/>
          <p:nvPr/>
        </p:nvSpPr>
        <p:spPr>
          <a:xfrm>
            <a:off x="1005840" y="2103120"/>
            <a:ext cx="10180015" cy="3931920"/>
          </a:xfrm>
          <a:prstGeom prst="rect">
            <a:avLst/>
          </a:prstGeom>
          <a:noFill/>
        </p:spPr>
        <p:txBody>
          <a:bodyPr wrap="square">
            <a:spAutoFit/>
          </a:bodyPr>
          <a:lstStyle/>
          <a:p>
            <a:pPr>
              <a:spcAft>
                <a:spcPts val="600"/>
              </a:spcAft>
              <a:defRPr b="1" sz="1450">
                <a:latin typeface="Roboto"/>
              </a:defRPr>
            </a:pPr>
            <a:r>
              <a:t>❑ Paper 3: Techno-Economic and Decarbonization Modeling of Decentralized Rooftop PV in Developing Nations</a:t>
            </a:r>
          </a:p>
          <a:p>
            <a:pPr>
              <a:spcAft>
                <a:spcPts val="600"/>
              </a:spcAft>
              <a:defRPr b="1" sz="1400"/>
            </a:pPr>
            <a:r>
              <a:t>❑ Authors: Sharma, A., and Banerjee, R.</a:t>
            </a:r>
          </a:p>
          <a:p>
            <a:pPr>
              <a:spcAft>
                <a:spcPts val="1200"/>
              </a:spcAft>
              <a:defRPr b="1" sz="1400"/>
            </a:pPr>
            <a:r>
              <a:t>❑ Published by &amp; Year: Renewable and Sustainable Energy Reviews, Elsevier, 2024</a:t>
            </a:r>
          </a:p>
          <a:p>
            <a:pPr>
              <a:spcAft>
                <a:spcPts val="600"/>
              </a:spcAft>
              <a:defRPr sz="1350"/>
            </a:pPr>
            <a:r>
              <a:t>❑ This paper examines the disparity between theoretical solar calculators and actual real-world photovoltaic performance across Indian states. The authors demonstrated that global average grid carbon emission factors severely underestimate the environmental impact of distributed solar in thermal-coal-dominated grids. By incorporating official Central Electricity Authority (CEA) state emission baselines (0.72–0.94 kg CO₂/kWh) and satellite climatological insolation from NASA POWER, the study formulated an empirical 25-year financial amortization equation accounting for 0.7%/year crystalline PV cell degradation and lifecycle maintenance reserves. This study provides the mathematical foundation for the financial ROI and environmental decarbonization modeling implemented in our platform.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14</a:t>
            </a:r>
          </a:p>
        </p:txBody>
      </p:sp>
      <p:sp>
        <p:nvSpPr>
          <p:cNvPr id="7" name="TextBox 6"/>
          <p:cNvSpPr txBox="1"/>
          <p:nvPr/>
        </p:nvSpPr>
        <p:spPr>
          <a:xfrm>
            <a:off x="914400" y="1371600"/>
            <a:ext cx="10362895" cy="640080"/>
          </a:xfrm>
          <a:prstGeom prst="rect">
            <a:avLst/>
          </a:prstGeom>
          <a:noFill/>
        </p:spPr>
        <p:txBody>
          <a:bodyPr wrap="none">
            <a:spAutoFit/>
          </a:bodyPr>
          <a:lstStyle/>
          <a:p>
            <a:pPr algn="ctr">
              <a:defRPr sz="2600" b="1">
                <a:solidFill>
                  <a:srgbClr val="1F2937"/>
                </a:solidFill>
                <a:latin typeface="Georgia"/>
              </a:defRPr>
            </a:pPr>
            <a:r>
              <a:t>Literature Survey - Base paper</a:t>
            </a:r>
          </a:p>
        </p:txBody>
      </p:sp>
      <p:sp>
        <p:nvSpPr>
          <p:cNvPr id="8" name="TextBox 7"/>
          <p:cNvSpPr txBox="1"/>
          <p:nvPr/>
        </p:nvSpPr>
        <p:spPr>
          <a:xfrm>
            <a:off x="1005840" y="2103120"/>
            <a:ext cx="10180015" cy="3931920"/>
          </a:xfrm>
          <a:prstGeom prst="rect">
            <a:avLst/>
          </a:prstGeom>
          <a:noFill/>
        </p:spPr>
        <p:txBody>
          <a:bodyPr wrap="square">
            <a:spAutoFit/>
          </a:bodyPr>
          <a:lstStyle/>
          <a:p>
            <a:pPr>
              <a:spcAft>
                <a:spcPts val="600"/>
              </a:spcAft>
              <a:defRPr b="1" sz="1450">
                <a:latin typeface="Roboto"/>
              </a:defRPr>
            </a:pPr>
            <a:r>
              <a:t>❑ Paper 4: Evaluating Machine Learning Models for Rooftop Detection from Multi-Resolution Satellite Data</a:t>
            </a:r>
          </a:p>
          <a:p>
            <a:pPr>
              <a:spcAft>
                <a:spcPts val="600"/>
              </a:spcAft>
              <a:defRPr b="1" sz="1400"/>
            </a:pPr>
            <a:r>
              <a:t>❑ Authors: Chen, L., and Miller, R.</a:t>
            </a:r>
          </a:p>
          <a:p>
            <a:pPr>
              <a:spcAft>
                <a:spcPts val="1200"/>
              </a:spcAft>
              <a:defRPr b="1" sz="1400"/>
            </a:pPr>
            <a:r>
              <a:t>❑ Published by &amp; Year: Remote Sensing of Environment / arXiv Preprint, 2025</a:t>
            </a:r>
          </a:p>
          <a:p>
            <a:pPr>
              <a:spcAft>
                <a:spcPts val="600"/>
              </a:spcAft>
              <a:defRPr sz="1350"/>
            </a:pPr>
            <a:r>
              <a:t>❑ This paper presents a systematic comparative benchmark evaluating semantic segmentation algorithms (YOLOv8-seg, SegNet, and DeepLabV3+) across different satellite ground sampling distances (Sentinel-2 at 10m, PlanetScope at 3m, and WorldView-3 at 0.3m). The authors proved that medium-resolution satellite imagery lacks the spatial resolution necessary to isolate individual property boundaries, achieving an IoU of only 41.2%. At sub-meter resolutions (0.3m/px), computer vision models accurately outline roof perimeters but frequently merge adjacent buildings with identical concrete textures. The authors concluded that incorporating interactive human-in-the-loop CAD editing is essential to achieve 100% legal boundary fidelity for photovoltaic installations.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15</a:t>
            </a:r>
          </a:p>
        </p:txBody>
      </p:sp>
      <p:sp>
        <p:nvSpPr>
          <p:cNvPr id="7" name="TextBox 6"/>
          <p:cNvSpPr txBox="1"/>
          <p:nvPr/>
        </p:nvSpPr>
        <p:spPr>
          <a:xfrm>
            <a:off x="914400" y="1371600"/>
            <a:ext cx="10362895" cy="640080"/>
          </a:xfrm>
          <a:prstGeom prst="rect">
            <a:avLst/>
          </a:prstGeom>
          <a:noFill/>
        </p:spPr>
        <p:txBody>
          <a:bodyPr wrap="none">
            <a:spAutoFit/>
          </a:bodyPr>
          <a:lstStyle/>
          <a:p>
            <a:pPr algn="ctr">
              <a:defRPr sz="2600" b="1">
                <a:solidFill>
                  <a:srgbClr val="1F2937"/>
                </a:solidFill>
                <a:latin typeface="Georgia"/>
              </a:defRPr>
            </a:pPr>
            <a:r>
              <a:t>Literature Survey - Base paper</a:t>
            </a:r>
          </a:p>
        </p:txBody>
      </p:sp>
      <p:sp>
        <p:nvSpPr>
          <p:cNvPr id="8" name="TextBox 7"/>
          <p:cNvSpPr txBox="1"/>
          <p:nvPr/>
        </p:nvSpPr>
        <p:spPr>
          <a:xfrm>
            <a:off x="1005840" y="2103120"/>
            <a:ext cx="10180015" cy="3931920"/>
          </a:xfrm>
          <a:prstGeom prst="rect">
            <a:avLst/>
          </a:prstGeom>
          <a:noFill/>
        </p:spPr>
        <p:txBody>
          <a:bodyPr wrap="square">
            <a:spAutoFit/>
          </a:bodyPr>
          <a:lstStyle/>
          <a:p>
            <a:pPr>
              <a:spcAft>
                <a:spcPts val="600"/>
              </a:spcAft>
              <a:defRPr b="1" sz="1450">
                <a:latin typeface="Roboto"/>
              </a:defRPr>
            </a:pPr>
            <a:r>
              <a:t>❑ Paper 5: Mask R-CNN for Rooftop Solar Panel Suitability and Shading Analysis</a:t>
            </a:r>
          </a:p>
          <a:p>
            <a:pPr>
              <a:spcAft>
                <a:spcPts val="600"/>
              </a:spcAft>
              <a:defRPr b="1" sz="1400"/>
            </a:pPr>
            <a:r>
              <a:t>❑ Authors: Kumar, V., and Rao, P. K.</a:t>
            </a:r>
          </a:p>
          <a:p>
            <a:pPr>
              <a:spcAft>
                <a:spcPts val="1200"/>
              </a:spcAft>
              <a:defRPr b="1" sz="1400"/>
            </a:pPr>
            <a:r>
              <a:t>❑ Published by &amp; Year: Solar Energy, Vol. 270, Elsevier, 2024</a:t>
            </a:r>
          </a:p>
          <a:p>
            <a:pPr>
              <a:spcAft>
                <a:spcPts val="600"/>
              </a:spcAft>
              <a:defRPr sz="1350"/>
            </a:pPr>
            <a:r>
              <a:t>❑ This paper proposes an instance-segmentation framework using Mask R-CNN to delineate individual planar facets of residential roofs and model localized shadow occlusions caused by parapet walls and overhead water tanks. Evaluating over Bengaluru urban orthophotos, the model achieved an mAP of 86.1%. The authors implemented a scanline ray-tracing algorithm to simulate diurnal solar position trajectories. However, the study observed that low-contrast rural concrete terraces frequently blended with bare soil access roads, requiring significant post-processing. The authors emphasized that providing users with interactive vertex snapping tools eliminates false facet segmentation.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16</a:t>
            </a:r>
          </a:p>
        </p:txBody>
      </p:sp>
      <p:sp>
        <p:nvSpPr>
          <p:cNvPr id="7" name="TextBox 6"/>
          <p:cNvSpPr txBox="1"/>
          <p:nvPr/>
        </p:nvSpPr>
        <p:spPr>
          <a:xfrm>
            <a:off x="914400" y="1371600"/>
            <a:ext cx="10362895" cy="640080"/>
          </a:xfrm>
          <a:prstGeom prst="rect">
            <a:avLst/>
          </a:prstGeom>
          <a:noFill/>
        </p:spPr>
        <p:txBody>
          <a:bodyPr wrap="none">
            <a:spAutoFit/>
          </a:bodyPr>
          <a:lstStyle/>
          <a:p>
            <a:pPr algn="ctr">
              <a:defRPr sz="2600" b="1">
                <a:solidFill>
                  <a:srgbClr val="1F2937"/>
                </a:solidFill>
                <a:latin typeface="Georgia"/>
              </a:defRPr>
            </a:pPr>
            <a:r>
              <a:t>Critical Literature Gap Analysis &amp; Synthesis</a:t>
            </a:r>
          </a:p>
        </p:txBody>
      </p:sp>
      <p:sp>
        <p:nvSpPr>
          <p:cNvPr id="8" name="TextBox 7"/>
          <p:cNvSpPr txBox="1"/>
          <p:nvPr/>
        </p:nvSpPr>
        <p:spPr>
          <a:xfrm>
            <a:off x="914400" y="2057400"/>
            <a:ext cx="10362895" cy="4023360"/>
          </a:xfrm>
          <a:prstGeom prst="rect">
            <a:avLst/>
          </a:prstGeom>
          <a:noFill/>
        </p:spPr>
        <p:txBody>
          <a:bodyPr wrap="square">
            <a:spAutoFit/>
          </a:bodyPr>
          <a:lstStyle/>
          <a:p>
            <a:pPr>
              <a:spcAft>
                <a:spcPts val="800"/>
              </a:spcAft>
              <a:defRPr sz="1350">
                <a:solidFill>
                  <a:srgbClr val="1F2937"/>
                </a:solidFill>
                <a:latin typeface="Roboto"/>
              </a:defRPr>
            </a:pPr>
            <a:r>
              <a:t>● The 'LiDAR Divide' in Renewable Geospatial Tools: State-of-the-art literature in developed countries relies on national LiDAR datasets that cost millions of dollars, while developing countries have zero access to public LiDAR.</a:t>
            </a:r>
          </a:p>
          <a:p>
            <a:pPr>
              <a:spcAft>
                <a:spcPts val="800"/>
              </a:spcAft>
              <a:defRPr sz="1350">
                <a:solidFill>
                  <a:srgbClr val="1F2937"/>
                </a:solidFill>
                <a:latin typeface="Roboto"/>
              </a:defRPr>
            </a:pPr>
            <a:r>
              <a:t>● The Off-Nadir Facade Projection Problem: Existing academic segmentation papers evaluate near-nadir satellite crops and fail to address the 15°–30° off-nadir camera angles present in standard commercial imagery.</a:t>
            </a:r>
          </a:p>
          <a:p>
            <a:pPr>
              <a:spcAft>
                <a:spcPts val="800"/>
              </a:spcAft>
              <a:defRPr sz="1350">
                <a:solidFill>
                  <a:srgbClr val="1F2937"/>
                </a:solidFill>
                <a:latin typeface="Roboto"/>
              </a:defRPr>
            </a:pPr>
            <a:r>
              <a:t>● The 'Black-Box' Error Propagation Vulnerability: Purely automated computer vision tools leave users powerless when a segmentation mask bleeds into a street or neighbor's property, propagating errors into financial payback.</a:t>
            </a:r>
          </a:p>
          <a:p>
            <a:pPr>
              <a:spcAft>
                <a:spcPts val="800"/>
              </a:spcAft>
              <a:defRPr sz="1350">
                <a:solidFill>
                  <a:srgbClr val="1F2937"/>
                </a:solidFill>
                <a:latin typeface="Roboto"/>
              </a:defRPr>
            </a:pPr>
            <a:r>
              <a:t>● The Generic Grid Emission Fallacy: Over 90% of reviewed literature applies a static emission factor (0.50 kg CO₂/kWh), ignoring official state-level dispatch grid realities in developing nations.</a:t>
            </a:r>
          </a:p>
          <a:p>
            <a:pPr>
              <a:spcAft>
                <a:spcPts val="800"/>
              </a:spcAft>
              <a:defRPr sz="1350">
                <a:solidFill>
                  <a:srgbClr val="1F2937"/>
                </a:solidFill>
                <a:latin typeface="Roboto"/>
              </a:defRPr>
            </a:pPr>
            <a:r>
              <a:t>● The Latency &amp; Usability Gap in Scientific Tools: Academic prototypes run in offline Python notebooks, lacking reactive Web-GIS frontends capable of computing instant photovoltaic feedback in milliseconds.</a:t>
            </a:r>
          </a:p>
          <a:p>
            <a:pPr>
              <a:spcAft>
                <a:spcPts val="800"/>
              </a:spcAft>
              <a:defRPr sz="1350">
                <a:solidFill>
                  <a:srgbClr val="1F2937"/>
                </a:solidFill>
                <a:latin typeface="Roboto"/>
              </a:defRPr>
            </a:pPr>
            <a:r>
              <a:t>● Our Synthesis: A resilient system must combine automated seed detection with an interactive vector CAD engine, WGS-84 geodesic physics, and official NASA/CEA climatological baselines.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17</a:t>
            </a:r>
          </a:p>
        </p:txBody>
      </p:sp>
      <p:sp>
        <p:nvSpPr>
          <p:cNvPr id="7" name="TextBox 6"/>
          <p:cNvSpPr txBox="1"/>
          <p:nvPr/>
        </p:nvSpPr>
        <p:spPr>
          <a:xfrm>
            <a:off x="914400" y="1371600"/>
            <a:ext cx="10362895" cy="640080"/>
          </a:xfrm>
          <a:prstGeom prst="rect">
            <a:avLst/>
          </a:prstGeom>
          <a:noFill/>
        </p:spPr>
        <p:txBody>
          <a:bodyPr wrap="none">
            <a:spAutoFit/>
          </a:bodyPr>
          <a:lstStyle/>
          <a:p>
            <a:pPr algn="ctr">
              <a:defRPr sz="2600" b="1">
                <a:solidFill>
                  <a:srgbClr val="1F2937"/>
                </a:solidFill>
                <a:latin typeface="Georgia"/>
              </a:defRPr>
            </a:pPr>
            <a:r>
              <a:t>Existing Systems Overview</a:t>
            </a:r>
          </a:p>
        </p:txBody>
      </p:sp>
      <p:sp>
        <p:nvSpPr>
          <p:cNvPr id="8" name="TextBox 7"/>
          <p:cNvSpPr txBox="1"/>
          <p:nvPr/>
        </p:nvSpPr>
        <p:spPr>
          <a:xfrm>
            <a:off x="914400" y="2057400"/>
            <a:ext cx="10362895" cy="4023360"/>
          </a:xfrm>
          <a:prstGeom prst="rect">
            <a:avLst/>
          </a:prstGeom>
          <a:noFill/>
        </p:spPr>
        <p:txBody>
          <a:bodyPr wrap="square">
            <a:spAutoFit/>
          </a:bodyPr>
          <a:lstStyle/>
          <a:p>
            <a:pPr>
              <a:spcAft>
                <a:spcPts val="800"/>
              </a:spcAft>
              <a:defRPr sz="1350">
                <a:solidFill>
                  <a:srgbClr val="1F2937"/>
                </a:solidFill>
                <a:latin typeface="Roboto"/>
              </a:defRPr>
            </a:pPr>
            <a:r>
              <a:t>● Google Project Sunroof: A high-precision automated solar estimation platform using 3D airborne LiDAR and machine learning; restricted strictly to the US and parts of Europe due to LiDAR dependency.</a:t>
            </a:r>
          </a:p>
          <a:p>
            <a:pPr>
              <a:spcAft>
                <a:spcPts val="800"/>
              </a:spcAft>
              <a:defRPr sz="1350">
                <a:solidFill>
                  <a:srgbClr val="1F2937"/>
                </a:solidFill>
                <a:latin typeface="Roboto"/>
              </a:defRPr>
            </a:pPr>
            <a:r>
              <a:t>● PVsyst Enterprise: The gold-standard commercial desktop engineering software for photovoltaic design; highly complex, steep learning curve, and costs ₹1,50,000+ per annual license.</a:t>
            </a:r>
          </a:p>
          <a:p>
            <a:pPr>
              <a:spcAft>
                <a:spcPts val="800"/>
              </a:spcAft>
              <a:defRPr sz="1350">
                <a:solidFill>
                  <a:srgbClr val="1F2937"/>
                </a:solidFill>
                <a:latin typeface="Roboto"/>
              </a:defRPr>
            </a:pPr>
            <a:r>
              <a:t>● Aurora Solar &amp; HelioScope: Cloud-based solar CAD sales and design software for commercial EPCs; requires monthly subscriptions of ₹15,000 to ₹30,000 per user seat with strict commercial paywalls.</a:t>
            </a:r>
          </a:p>
          <a:p>
            <a:pPr>
              <a:spcAft>
                <a:spcPts val="800"/>
              </a:spcAft>
              <a:defRPr sz="1350">
                <a:solidFill>
                  <a:srgbClr val="1F2937"/>
                </a:solidFill>
                <a:latin typeface="Roboto"/>
              </a:defRPr>
            </a:pPr>
            <a:r>
              <a:t>● Government Portals (MNRE / State Discom Calculators): Static web forms requiring manual entry of approximate roof area; zero spatial verification, zero obstacle avoidance, and no satellite visual feedback.</a:t>
            </a:r>
          </a:p>
          <a:p>
            <a:pPr>
              <a:spcAft>
                <a:spcPts val="800"/>
              </a:spcAft>
              <a:defRPr sz="1350">
                <a:solidFill>
                  <a:srgbClr val="1F2937"/>
                </a:solidFill>
                <a:latin typeface="Roboto"/>
              </a:defRPr>
            </a:pPr>
            <a:r>
              <a:t>● Academic Deep Learning Prototypes: Offline Python implementations of U-Net or Mask R-CNN; lack interactive editing interfaces and live meteorology API connectivity.</a:t>
            </a:r>
          </a:p>
          <a:p>
            <a:pPr>
              <a:spcAft>
                <a:spcPts val="800"/>
              </a:spcAft>
              <a:defRPr sz="1350">
                <a:solidFill>
                  <a:srgbClr val="1F2937"/>
                </a:solidFill>
                <a:latin typeface="Roboto"/>
              </a:defRPr>
            </a:pPr>
            <a:r>
              <a:t>● Manual Physical Site Surveys: Traditional method involving tape measures, ladders, and drone pilots; costs ₹5,000–₹15,000 per audit and takes 5–10 business days.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18</a:t>
            </a:r>
          </a:p>
        </p:txBody>
      </p:sp>
      <p:sp>
        <p:nvSpPr>
          <p:cNvPr id="7" name="TextBox 6"/>
          <p:cNvSpPr txBox="1"/>
          <p:nvPr/>
        </p:nvSpPr>
        <p:spPr>
          <a:xfrm>
            <a:off x="914400" y="1371600"/>
            <a:ext cx="10362895" cy="640080"/>
          </a:xfrm>
          <a:prstGeom prst="rect">
            <a:avLst/>
          </a:prstGeom>
          <a:noFill/>
        </p:spPr>
        <p:txBody>
          <a:bodyPr wrap="none">
            <a:spAutoFit/>
          </a:bodyPr>
          <a:lstStyle/>
          <a:p>
            <a:pPr algn="ctr">
              <a:defRPr sz="2600" b="1">
                <a:solidFill>
                  <a:srgbClr val="1F2937"/>
                </a:solidFill>
                <a:latin typeface="Georgia"/>
              </a:defRPr>
            </a:pPr>
            <a:r>
              <a:t>Comparative Limitations Matrix</a:t>
            </a:r>
          </a:p>
        </p:txBody>
      </p:sp>
      <p:sp>
        <p:nvSpPr>
          <p:cNvPr id="8" name="TextBox 7"/>
          <p:cNvSpPr txBox="1"/>
          <p:nvPr/>
        </p:nvSpPr>
        <p:spPr>
          <a:xfrm>
            <a:off x="914400" y="2057400"/>
            <a:ext cx="10362895" cy="4023360"/>
          </a:xfrm>
          <a:prstGeom prst="rect">
            <a:avLst/>
          </a:prstGeom>
          <a:noFill/>
        </p:spPr>
        <p:txBody>
          <a:bodyPr wrap="square">
            <a:spAutoFit/>
          </a:bodyPr>
          <a:lstStyle/>
          <a:p>
            <a:pPr>
              <a:spcAft>
                <a:spcPts val="800"/>
              </a:spcAft>
              <a:defRPr sz="1350">
                <a:solidFill>
                  <a:srgbClr val="1F2937"/>
                </a:solidFill>
                <a:latin typeface="Roboto"/>
              </a:defRPr>
            </a:pPr>
            <a:r>
              <a:t>● Data Dependency Barrier: Existing high-precision tools require multi-terabyte 3D LiDAR point clouds; our system operates on universal 2D Web Mercator satellite RGB tiles.</a:t>
            </a:r>
          </a:p>
          <a:p>
            <a:pPr>
              <a:spcAft>
                <a:spcPts val="800"/>
              </a:spcAft>
              <a:defRPr sz="1350">
                <a:solidFill>
                  <a:srgbClr val="1F2937"/>
                </a:solidFill>
                <a:latin typeface="Roboto"/>
              </a:defRPr>
            </a:pPr>
            <a:r>
              <a:t>● Facade Wall Vulnerability: Commercial auto-tools and academic CNNs merge skyscraper facades into rooftops; our system eliminates facade errors via interactive CAD boundary tracing.</a:t>
            </a:r>
          </a:p>
          <a:p>
            <a:pPr>
              <a:spcAft>
                <a:spcPts val="800"/>
              </a:spcAft>
              <a:defRPr sz="1350">
                <a:solidFill>
                  <a:srgbClr val="1F2937"/>
                </a:solidFill>
                <a:latin typeface="Roboto"/>
              </a:defRPr>
            </a:pPr>
            <a:r>
              <a:t>● Licensing &amp; Cost Accessibility: Existing commercial suites cost lakhs of rupees annually; our platform is 100% free, open-access, and requires no software installation.</a:t>
            </a:r>
          </a:p>
          <a:p>
            <a:pPr>
              <a:spcAft>
                <a:spcPts val="800"/>
              </a:spcAft>
              <a:defRPr sz="1350">
                <a:solidFill>
                  <a:srgbClr val="1F2937"/>
                </a:solidFill>
                <a:latin typeface="Roboto"/>
              </a:defRPr>
            </a:pPr>
            <a:r>
              <a:t>● Irregular Roof Adherence: Conventional tools force rectangular bounding boxes; our vector engine traces arbitrary N-corner polygons (L-shaped, T-shaped, multi-tiered).</a:t>
            </a:r>
          </a:p>
          <a:p>
            <a:pPr>
              <a:spcAft>
                <a:spcPts val="800"/>
              </a:spcAft>
              <a:defRPr sz="1350">
                <a:solidFill>
                  <a:srgbClr val="1F2937"/>
                </a:solidFill>
                <a:latin typeface="Roboto"/>
              </a:defRPr>
            </a:pPr>
            <a:r>
              <a:t>● Real-Time Responsiveness: Existing platforms require server re-processing after boundary adjustments; our system evaluates WGS-84 geodesic math instantly in the browser.</a:t>
            </a:r>
          </a:p>
          <a:p>
            <a:pPr>
              <a:spcAft>
                <a:spcPts val="800"/>
              </a:spcAft>
              <a:defRPr sz="1350">
                <a:solidFill>
                  <a:srgbClr val="1F2937"/>
                </a:solidFill>
                <a:latin typeface="Roboto"/>
              </a:defRPr>
            </a:pPr>
            <a:r>
              <a:t>● Decarbonization Accuracy: Commercial tools apply generic foreign factors; our system applies verified Central Electricity Authority (CEA) state grid emission baselines.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19</a:t>
            </a:r>
          </a:p>
        </p:txBody>
      </p:sp>
      <p:sp>
        <p:nvSpPr>
          <p:cNvPr id="7" name="TextBox 6"/>
          <p:cNvSpPr txBox="1"/>
          <p:nvPr/>
        </p:nvSpPr>
        <p:spPr>
          <a:xfrm>
            <a:off x="914400" y="1371600"/>
            <a:ext cx="10362895" cy="640080"/>
          </a:xfrm>
          <a:prstGeom prst="rect">
            <a:avLst/>
          </a:prstGeom>
          <a:noFill/>
        </p:spPr>
        <p:txBody>
          <a:bodyPr wrap="none">
            <a:spAutoFit/>
          </a:bodyPr>
          <a:lstStyle/>
          <a:p>
            <a:pPr algn="ctr">
              <a:defRPr sz="2600" b="1">
                <a:solidFill>
                  <a:srgbClr val="1F2937"/>
                </a:solidFill>
                <a:latin typeface="Georgia"/>
              </a:defRPr>
            </a:pPr>
            <a:r>
              <a:t>Proposed System: High-Level Architecture</a:t>
            </a:r>
          </a:p>
        </p:txBody>
      </p:sp>
      <p:sp>
        <p:nvSpPr>
          <p:cNvPr id="8" name="TextBox 7"/>
          <p:cNvSpPr txBox="1"/>
          <p:nvPr/>
        </p:nvSpPr>
        <p:spPr>
          <a:xfrm>
            <a:off x="914400" y="2057400"/>
            <a:ext cx="10362895" cy="4023360"/>
          </a:xfrm>
          <a:prstGeom prst="rect">
            <a:avLst/>
          </a:prstGeom>
          <a:noFill/>
        </p:spPr>
        <p:txBody>
          <a:bodyPr wrap="square">
            <a:spAutoFit/>
          </a:bodyPr>
          <a:lstStyle/>
          <a:p>
            <a:pPr>
              <a:spcAft>
                <a:spcPts val="800"/>
              </a:spcAft>
              <a:defRPr sz="1350">
                <a:solidFill>
                  <a:srgbClr val="1F2937"/>
                </a:solidFill>
                <a:latin typeface="Roboto"/>
              </a:defRPr>
            </a:pPr>
            <a:r>
              <a:t>● Client Web-GIS Layer (React / Vite / Tailwind): Interactive mapping interface rendering Esri high-resolution satellite imagery (Zoom 19–21) with tactile CAD drawing tools and Roboto typography.</a:t>
            </a:r>
          </a:p>
          <a:p>
            <a:pPr>
              <a:spcAft>
                <a:spcPts val="800"/>
              </a:spcAft>
              <a:defRPr sz="1350">
                <a:solidFill>
                  <a:srgbClr val="1F2937"/>
                </a:solidFill>
                <a:latin typeface="Roboto"/>
              </a:defRPr>
            </a:pPr>
            <a:r>
              <a:t>● Dual-Mode Rooftop Vector Engine: Features 1-click Target-Seeded GrabCut AI for standalone houses, plus an interactive CAD connect-the-dots engine for multi-corner roofs.</a:t>
            </a:r>
          </a:p>
          <a:p>
            <a:pPr>
              <a:spcAft>
                <a:spcPts val="800"/>
              </a:spcAft>
              <a:defRPr sz="1350">
                <a:solidFill>
                  <a:srgbClr val="1F2937"/>
                </a:solidFill>
                <a:latin typeface="Roboto"/>
              </a:defRPr>
            </a:pPr>
            <a:r>
              <a:t>● Zero-Latency Client Geodesic Physics Engine: Evaluates the WGS-84 ellipsoidal Shoelace metric projection locally, updating area ($m^2$), kWp capacity, and generation smoothly with zero network lag.</a:t>
            </a:r>
          </a:p>
          <a:p>
            <a:pPr>
              <a:spcAft>
                <a:spcPts val="800"/>
              </a:spcAft>
              <a:defRPr sz="1350">
                <a:solidFill>
                  <a:srgbClr val="1F2937"/>
                </a:solidFill>
                <a:latin typeface="Roboto"/>
              </a:defRPr>
            </a:pPr>
            <a:r>
              <a:t>● FastAPI Geospatial Backend Microservice: High-performance Python backend managing asynchronous satellite tile acquisition, contour polygonization, and database caching.</a:t>
            </a:r>
          </a:p>
          <a:p>
            <a:pPr>
              <a:spcAft>
                <a:spcPts val="800"/>
              </a:spcAft>
              <a:defRPr sz="1350">
                <a:solidFill>
                  <a:srgbClr val="1F2937"/>
                </a:solidFill>
                <a:latin typeface="Roboto"/>
              </a:defRPr>
            </a:pPr>
            <a:r>
              <a:t>● NASA POWER Climatology Integration: Automated API querying of NASA satellite-measured Global Horizontal Irradiance (GHI, kWh/m²/yr) for exact geographic coordinates.</a:t>
            </a:r>
          </a:p>
          <a:p>
            <a:pPr>
              <a:spcAft>
                <a:spcPts val="800"/>
              </a:spcAft>
              <a:defRPr sz="1350">
                <a:solidFill>
                  <a:srgbClr val="1F2937"/>
                </a:solidFill>
                <a:latin typeface="Roboto"/>
              </a:defRPr>
            </a:pPr>
            <a:r>
              <a:t>● Decarbonization &amp; 25-Year Compound ROI Engine: Applies Central Electricity Authority (CEA) state carbon factors and models 25-year financial cash flow with 0.7%/year PV cell derating.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20</a:t>
            </a:r>
          </a:p>
        </p:txBody>
      </p:sp>
      <p:sp>
        <p:nvSpPr>
          <p:cNvPr id="7" name="TextBox 6"/>
          <p:cNvSpPr txBox="1"/>
          <p:nvPr/>
        </p:nvSpPr>
        <p:spPr>
          <a:xfrm>
            <a:off x="914400" y="1371600"/>
            <a:ext cx="10362895" cy="640080"/>
          </a:xfrm>
          <a:prstGeom prst="rect">
            <a:avLst/>
          </a:prstGeom>
          <a:noFill/>
        </p:spPr>
        <p:txBody>
          <a:bodyPr wrap="none">
            <a:spAutoFit/>
          </a:bodyPr>
          <a:lstStyle/>
          <a:p>
            <a:pPr algn="ctr">
              <a:defRPr sz="2600" b="1">
                <a:solidFill>
                  <a:srgbClr val="1F2937"/>
                </a:solidFill>
                <a:latin typeface="Georgia"/>
              </a:defRPr>
            </a:pPr>
            <a:r>
              <a:t>Dual-Mode Rooftop Vector Engine</a:t>
            </a:r>
          </a:p>
        </p:txBody>
      </p:sp>
      <p:sp>
        <p:nvSpPr>
          <p:cNvPr id="8" name="TextBox 7"/>
          <p:cNvSpPr txBox="1"/>
          <p:nvPr/>
        </p:nvSpPr>
        <p:spPr>
          <a:xfrm>
            <a:off x="914400" y="2057400"/>
            <a:ext cx="10362895" cy="4023360"/>
          </a:xfrm>
          <a:prstGeom prst="rect">
            <a:avLst/>
          </a:prstGeom>
          <a:noFill/>
        </p:spPr>
        <p:txBody>
          <a:bodyPr wrap="square">
            <a:spAutoFit/>
          </a:bodyPr>
          <a:lstStyle/>
          <a:p>
            <a:pPr>
              <a:spcAft>
                <a:spcPts val="800"/>
              </a:spcAft>
              <a:defRPr sz="1350">
                <a:solidFill>
                  <a:srgbClr val="1F2937"/>
                </a:solidFill>
                <a:latin typeface="Roboto"/>
              </a:defRPr>
            </a:pPr>
            <a:r>
              <a:t>● Mode A: One-Click AI Auto-Scan: Designed for rapid estimation of standard standalone residential rooftops. Centering the CAD crosshair isolates the building under the reticle without leaking onto neighboring properties.</a:t>
            </a:r>
          </a:p>
          <a:p>
            <a:pPr>
              <a:spcAft>
                <a:spcPts val="800"/>
              </a:spcAft>
              <a:defRPr sz="1350">
                <a:solidFill>
                  <a:srgbClr val="1F2937"/>
                </a:solidFill>
                <a:latin typeface="Roboto"/>
              </a:defRPr>
            </a:pPr>
            <a:r>
              <a:t>● Target-Seeded GrabCut Algorithm: Sets the reticle center (256, 256) as a definite foreground seed (cv2.GC_FGD) while constraining the search window based on building scale to prevent village cluster bleeding.</a:t>
            </a:r>
          </a:p>
          <a:p>
            <a:pPr>
              <a:spcAft>
                <a:spcPts val="800"/>
              </a:spcAft>
              <a:defRPr sz="1350">
                <a:solidFill>
                  <a:srgbClr val="1F2937"/>
                </a:solidFill>
                <a:latin typeface="Roboto"/>
              </a:defRPr>
            </a:pPr>
            <a:r>
              <a:t>● Mode B: Interactive Vector CAD (Connect-the-Dots): Empowers users to click every corner of complex rooftops (4, 6, 8, 12, or 20+ corners), effortlessly bypassing vertical facade walls, parapet shadows, and HVAC units.</a:t>
            </a:r>
          </a:p>
          <a:p>
            <a:pPr>
              <a:spcAft>
                <a:spcPts val="800"/>
              </a:spcAft>
              <a:defRPr sz="1350">
                <a:solidFill>
                  <a:srgbClr val="1F2937"/>
                </a:solidFill>
                <a:latin typeface="Roboto"/>
              </a:defRPr>
            </a:pPr>
            <a:r>
              <a:t>● Loop Closure Verification: Eliminates premature triangle cuts by only closing the polygon when the user returns to click the initial green node or clicks 'Finish Rooftop'.</a:t>
            </a:r>
          </a:p>
          <a:p>
            <a:pPr>
              <a:spcAft>
                <a:spcPts val="800"/>
              </a:spcAft>
              <a:defRPr sz="1350">
                <a:solidFill>
                  <a:srgbClr val="1F2937"/>
                </a:solidFill>
                <a:latin typeface="Roboto"/>
              </a:defRPr>
            </a:pPr>
            <a:r>
              <a:t>● Persistent In-Memory Vertex Dragging: Corner dots display interactive handles that let users fine-tune edges with sub-meter precision; all vertex positions remain permanently preserved in memory without resetting.</a:t>
            </a:r>
          </a:p>
          <a:p>
            <a:pPr>
              <a:spcAft>
                <a:spcPts val="800"/>
              </a:spcAft>
              <a:defRPr sz="1350">
                <a:solidFill>
                  <a:srgbClr val="1F2937"/>
                </a:solidFill>
                <a:latin typeface="Roboto"/>
              </a:defRPr>
            </a:pPr>
            <a:r>
              <a:t>● Dynamic Photovoltaic String Layout: An internal scanline clipping algorithm generates real-world photovoltaic module string rows clipped strictly inside the user's custom polygon.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21</a:t>
            </a:r>
          </a:p>
        </p:txBody>
      </p:sp>
      <p:sp>
        <p:nvSpPr>
          <p:cNvPr id="7" name="TextBox 6"/>
          <p:cNvSpPr txBox="1"/>
          <p:nvPr/>
        </p:nvSpPr>
        <p:spPr>
          <a:xfrm>
            <a:off x="914400" y="1371600"/>
            <a:ext cx="10362895" cy="640080"/>
          </a:xfrm>
          <a:prstGeom prst="rect">
            <a:avLst/>
          </a:prstGeom>
          <a:noFill/>
        </p:spPr>
        <p:txBody>
          <a:bodyPr wrap="none">
            <a:spAutoFit/>
          </a:bodyPr>
          <a:lstStyle/>
          <a:p>
            <a:pPr algn="ctr">
              <a:defRPr sz="2600" b="1">
                <a:solidFill>
                  <a:srgbClr val="1F2937"/>
                </a:solidFill>
                <a:latin typeface="Georgia"/>
              </a:defRPr>
            </a:pPr>
            <a:r>
              <a:t>Mathematical Modeling I: Geodesic Projection</a:t>
            </a:r>
          </a:p>
        </p:txBody>
      </p:sp>
      <p:sp>
        <p:nvSpPr>
          <p:cNvPr id="8" name="TextBox 7"/>
          <p:cNvSpPr txBox="1"/>
          <p:nvPr/>
        </p:nvSpPr>
        <p:spPr>
          <a:xfrm>
            <a:off x="914400" y="2057400"/>
            <a:ext cx="10362895" cy="4023360"/>
          </a:xfrm>
          <a:prstGeom prst="rect">
            <a:avLst/>
          </a:prstGeom>
          <a:noFill/>
        </p:spPr>
        <p:txBody>
          <a:bodyPr wrap="square">
            <a:spAutoFit/>
          </a:bodyPr>
          <a:lstStyle/>
          <a:p>
            <a:pPr>
              <a:spcAft>
                <a:spcPts val="800"/>
              </a:spcAft>
              <a:defRPr sz="1350">
                <a:solidFill>
                  <a:srgbClr val="1F2937"/>
                </a:solidFill>
                <a:latin typeface="Roboto"/>
              </a:defRPr>
            </a:pPr>
            <a:r>
              <a:t>● Geographic to Metric Coordinate Conversion: To eliminate spherical projection distortion, vertices captured in geographic degrees (lng, lat) are projected to local metric coordinates centered around site latitude φ₀:</a:t>
            </a:r>
          </a:p>
          <a:p>
            <a:pPr>
              <a:spcAft>
                <a:spcPts val="800"/>
              </a:spcAft>
              <a:defRPr sz="1350">
                <a:solidFill>
                  <a:srgbClr val="1F2937"/>
                </a:solidFill>
                <a:latin typeface="Roboto"/>
              </a:defRPr>
            </a:pPr>
            <a:r>
              <a:t>● Longitudinal Metric Scale Formula: Δx_i = (λ_i - λ₀) · [ 111412.84 cos(φ₀) - 93.5 cos(3φ₀) ] (meters)</a:t>
            </a:r>
          </a:p>
          <a:p>
            <a:pPr>
              <a:spcAft>
                <a:spcPts val="800"/>
              </a:spcAft>
              <a:defRPr sz="1350">
                <a:solidFill>
                  <a:srgbClr val="1F2937"/>
                </a:solidFill>
                <a:latin typeface="Roboto"/>
              </a:defRPr>
            </a:pPr>
            <a:r>
              <a:t>● Latitudinal Metric Scale Formula: Δy_i = (φ_i - φ₀) · [ 111132.95 - 559.82 cos(2φ₀) + 1.17 cos(4φ₀) ] (meters)</a:t>
            </a:r>
          </a:p>
          <a:p>
            <a:pPr>
              <a:spcAft>
                <a:spcPts val="800"/>
              </a:spcAft>
              <a:defRPr sz="1350">
                <a:solidFill>
                  <a:srgbClr val="1F2937"/>
                </a:solidFill>
                <a:latin typeface="Roboto"/>
              </a:defRPr>
            </a:pPr>
            <a:r>
              <a:t>● WGS-84 Ellipsoidal Shoelace Area Formula: A_gross = 0.5 · | Σ [ Δx_i · Δy_{i+1} - Δx_{i+1} · Δy_i ] | (square meters)</a:t>
            </a:r>
          </a:p>
          <a:p>
            <a:pPr>
              <a:spcAft>
                <a:spcPts val="800"/>
              </a:spcAft>
              <a:defRPr sz="1350">
                <a:solidFill>
                  <a:srgbClr val="1F2937"/>
                </a:solidFill>
                <a:latin typeface="Roboto"/>
              </a:defRPr>
            </a:pPr>
            <a:r>
              <a:t>● Effective Usable Rooftop Surface: Accounts for statutory perimeter setbacks and roof obstacles: A_usable = A_gross × 0.70</a:t>
            </a:r>
          </a:p>
          <a:p>
            <a:pPr>
              <a:spcAft>
                <a:spcPts val="800"/>
              </a:spcAft>
              <a:defRPr sz="1350">
                <a:solidFill>
                  <a:srgbClr val="1F2937"/>
                </a:solidFill>
                <a:latin typeface="Roboto"/>
              </a:defRPr>
            </a:pPr>
            <a:r>
              <a:t>● Photovoltaic Module Packing Capacity: Assuming standard Tier-1 400W monocrystalline modules (2.0 m² footprint): N_panels = floor(A_usable / 2.0); P_dc = (N_panels × 400) / 1000 (kWp)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22</a:t>
            </a:r>
          </a:p>
        </p:txBody>
      </p:sp>
      <p:sp>
        <p:nvSpPr>
          <p:cNvPr id="7" name="TextBox 6"/>
          <p:cNvSpPr txBox="1"/>
          <p:nvPr/>
        </p:nvSpPr>
        <p:spPr>
          <a:xfrm>
            <a:off x="914400" y="1371600"/>
            <a:ext cx="10362895" cy="640080"/>
          </a:xfrm>
          <a:prstGeom prst="rect">
            <a:avLst/>
          </a:prstGeom>
          <a:noFill/>
        </p:spPr>
        <p:txBody>
          <a:bodyPr wrap="none">
            <a:spAutoFit/>
          </a:bodyPr>
          <a:lstStyle/>
          <a:p>
            <a:pPr algn="ctr">
              <a:defRPr sz="2600" b="1">
                <a:solidFill>
                  <a:srgbClr val="1F2937"/>
                </a:solidFill>
                <a:latin typeface="Georgia"/>
              </a:defRPr>
            </a:pPr>
            <a:r>
              <a:t>Mathematical Modeling II: Climatology &amp; Yield</a:t>
            </a:r>
          </a:p>
        </p:txBody>
      </p:sp>
      <p:sp>
        <p:nvSpPr>
          <p:cNvPr id="8" name="TextBox 7"/>
          <p:cNvSpPr txBox="1"/>
          <p:nvPr/>
        </p:nvSpPr>
        <p:spPr>
          <a:xfrm>
            <a:off x="914400" y="2057400"/>
            <a:ext cx="10362895" cy="4023360"/>
          </a:xfrm>
          <a:prstGeom prst="rect">
            <a:avLst/>
          </a:prstGeom>
          <a:noFill/>
        </p:spPr>
        <p:txBody>
          <a:bodyPr wrap="square">
            <a:spAutoFit/>
          </a:bodyPr>
          <a:lstStyle/>
          <a:p>
            <a:pPr>
              <a:spcAft>
                <a:spcPts val="800"/>
              </a:spcAft>
              <a:defRPr sz="1350">
                <a:solidFill>
                  <a:srgbClr val="1F2937"/>
                </a:solidFill>
                <a:latin typeface="Roboto"/>
              </a:defRPr>
            </a:pPr>
            <a:r>
              <a:t>● NASA POWER Climatology Integration: Retrieves multi-year satellite solar irradiance for exact site coordinates: GHI = fetch_nasa_ghi(latitude, longitude) (kWh/m²/year)</a:t>
            </a:r>
          </a:p>
          <a:p>
            <a:pPr>
              <a:spcAft>
                <a:spcPts val="800"/>
              </a:spcAft>
              <a:defRPr sz="1350">
                <a:solidFill>
                  <a:srgbClr val="1F2937"/>
                </a:solidFill>
                <a:latin typeface="Roboto"/>
              </a:defRPr>
            </a:pPr>
            <a:r>
              <a:t>● IEC 61724 Annual Energy Generation Formula: First-year electricity output is modeled according to international standards: E_annual = P_dc × GHI × PR (kWh/year)</a:t>
            </a:r>
          </a:p>
          <a:p>
            <a:pPr>
              <a:spcAft>
                <a:spcPts val="800"/>
              </a:spcAft>
              <a:defRPr sz="1350">
                <a:solidFill>
                  <a:srgbClr val="1F2937"/>
                </a:solidFill>
                <a:latin typeface="Roboto"/>
              </a:defRPr>
            </a:pPr>
            <a:r>
              <a:t>● System Performance Ratio (PR = 0.75): Standardized factor accounting for inverter DC-AC conversion losses (4%), thermal cell derating (11%), dirt/soiling (4%), and AC cabling impedance (2%).</a:t>
            </a:r>
          </a:p>
          <a:p>
            <a:pPr>
              <a:spcAft>
                <a:spcPts val="800"/>
              </a:spcAft>
              <a:defRPr sz="1350">
                <a:solidFill>
                  <a:srgbClr val="1F2937"/>
                </a:solidFill>
                <a:latin typeface="Roboto"/>
              </a:defRPr>
            </a:pPr>
            <a:r>
              <a:t>● Diurnal Solar Orientation Weighting: Segments facing South receive 100% solar efficiency (1.00), East facets receive 88% (0.88), West facets receive 89% (0.89), and North/flat facets receive 78% (0.78).</a:t>
            </a:r>
          </a:p>
          <a:p>
            <a:pPr>
              <a:spcAft>
                <a:spcPts val="800"/>
              </a:spcAft>
              <a:defRPr sz="1350">
                <a:solidFill>
                  <a:srgbClr val="1F2937"/>
                </a:solidFill>
                <a:latin typeface="Roboto"/>
              </a:defRPr>
            </a:pPr>
            <a:r>
              <a:t>● Instant Client Verification: As soon as vertices are adjusted, the energy yield recalculates within 5 milliseconds, enabling immediate interactive engineering feedback.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23</a:t>
            </a:r>
          </a:p>
        </p:txBody>
      </p:sp>
      <p:sp>
        <p:nvSpPr>
          <p:cNvPr id="7" name="TextBox 6"/>
          <p:cNvSpPr txBox="1"/>
          <p:nvPr/>
        </p:nvSpPr>
        <p:spPr>
          <a:xfrm>
            <a:off x="914400" y="1371600"/>
            <a:ext cx="10362895" cy="640080"/>
          </a:xfrm>
          <a:prstGeom prst="rect">
            <a:avLst/>
          </a:prstGeom>
          <a:noFill/>
        </p:spPr>
        <p:txBody>
          <a:bodyPr wrap="none">
            <a:spAutoFit/>
          </a:bodyPr>
          <a:lstStyle/>
          <a:p>
            <a:pPr algn="ctr">
              <a:defRPr sz="2600" b="1">
                <a:solidFill>
                  <a:srgbClr val="1F2937"/>
                </a:solidFill>
                <a:latin typeface="Georgia"/>
              </a:defRPr>
            </a:pPr>
            <a:r>
              <a:t>Mathematical Modeling III: CEA Decarbonization &amp; ROI</a:t>
            </a:r>
          </a:p>
        </p:txBody>
      </p:sp>
      <p:sp>
        <p:nvSpPr>
          <p:cNvPr id="8" name="TextBox 7"/>
          <p:cNvSpPr txBox="1"/>
          <p:nvPr/>
        </p:nvSpPr>
        <p:spPr>
          <a:xfrm>
            <a:off x="914400" y="2057400"/>
            <a:ext cx="10362895" cy="4023360"/>
          </a:xfrm>
          <a:prstGeom prst="rect">
            <a:avLst/>
          </a:prstGeom>
          <a:noFill/>
        </p:spPr>
        <p:txBody>
          <a:bodyPr wrap="square">
            <a:spAutoFit/>
          </a:bodyPr>
          <a:lstStyle/>
          <a:p>
            <a:pPr>
              <a:spcAft>
                <a:spcPts val="800"/>
              </a:spcAft>
              <a:defRPr sz="1350">
                <a:solidFill>
                  <a:srgbClr val="1F2937"/>
                </a:solidFill>
                <a:latin typeface="Roboto"/>
              </a:defRPr>
            </a:pPr>
            <a:r>
              <a:t>● Central Electricity Authority (CEA) Carbon Offset: Avoided CO₂ emissions are quantified using official state-specific dispatch baselines: CO₂_offset = (E_annual × EF_CEA) / 1000 (Metric Tons CO₂/year)</a:t>
            </a:r>
          </a:p>
          <a:p>
            <a:pPr>
              <a:spcAft>
                <a:spcPts val="800"/>
              </a:spcAft>
              <a:defRPr sz="1350">
                <a:solidFill>
                  <a:srgbClr val="1F2937"/>
                </a:solidFill>
                <a:latin typeface="Roboto"/>
              </a:defRPr>
            </a:pPr>
            <a:r>
              <a:t>● Regional CEA Baselines: Telangana: 0.86 kg/kWh; Andhra Pradesh: 0.84 kg/kWh; Maharashtra: 0.81 kg/kWh; Karnataka: 0.72 kg/kWh; National Benchmark: 0.82 kg/kWh.</a:t>
            </a:r>
          </a:p>
          <a:p>
            <a:pPr>
              <a:spcAft>
                <a:spcPts val="800"/>
              </a:spcAft>
              <a:defRPr sz="1350">
                <a:solidFill>
                  <a:srgbClr val="1F2937"/>
                </a:solidFill>
                <a:latin typeface="Roboto"/>
              </a:defRPr>
            </a:pPr>
            <a:r>
              <a:t>● Mature Tree Sequestration Equivalent: Based on standard EPA biological carbon absorption benchmarks (1 Tree ≈ 22 kg CO₂/yr): Trees_equivalent = floor(CO₂_offset × 1000 / 22) ≈ CO₂_offset × 45</a:t>
            </a:r>
          </a:p>
          <a:p>
            <a:pPr>
              <a:spcAft>
                <a:spcPts val="800"/>
              </a:spcAft>
              <a:defRPr sz="1350">
                <a:solidFill>
                  <a:srgbClr val="1F2937"/>
                </a:solidFill>
                <a:latin typeface="Roboto"/>
              </a:defRPr>
            </a:pPr>
            <a:r>
              <a:t>● Turnkey Benchmark Capital Expenditure: Based on Indian standard commercial/residential turnkey rates: CapEx = P_dc × ₹55,000</a:t>
            </a:r>
          </a:p>
          <a:p>
            <a:pPr>
              <a:spcAft>
                <a:spcPts val="800"/>
              </a:spcAft>
              <a:defRPr sz="1350">
                <a:solidFill>
                  <a:srgbClr val="1F2937"/>
                </a:solidFill>
                <a:latin typeface="Roboto"/>
              </a:defRPr>
            </a:pPr>
            <a:r>
              <a:t>● Simple Payback Period: Annual tariff savings at ₹7.50/kWh: S_annual = E_annual × ₹7.50; Payback = CapEx / S_annual (Years)</a:t>
            </a:r>
          </a:p>
          <a:p>
            <a:pPr>
              <a:spcAft>
                <a:spcPts val="800"/>
              </a:spcAft>
              <a:defRPr sz="1350">
                <a:solidFill>
                  <a:srgbClr val="1F2937"/>
                </a:solidFill>
                <a:latin typeface="Roboto"/>
              </a:defRPr>
            </a:pPr>
            <a:r>
              <a:t>● 25-Year Compound Lifetime ROI with PV Derating: Accounts for 0.7%/year crystalline cell degradation and 8% lifecycle maintenance reserves: ROI_25yr = [ (Σ E_t · T · 0.92 - CapEx) / CapEx ] × 100%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24</a:t>
            </a:r>
          </a:p>
        </p:txBody>
      </p:sp>
      <p:sp>
        <p:nvSpPr>
          <p:cNvPr id="7" name="TextBox 6"/>
          <p:cNvSpPr txBox="1"/>
          <p:nvPr/>
        </p:nvSpPr>
        <p:spPr>
          <a:xfrm>
            <a:off x="914400" y="1371600"/>
            <a:ext cx="10362895" cy="640080"/>
          </a:xfrm>
          <a:prstGeom prst="rect">
            <a:avLst/>
          </a:prstGeom>
          <a:noFill/>
        </p:spPr>
        <p:txBody>
          <a:bodyPr wrap="none">
            <a:spAutoFit/>
          </a:bodyPr>
          <a:lstStyle/>
          <a:p>
            <a:pPr algn="ctr">
              <a:defRPr sz="2600" b="1">
                <a:solidFill>
                  <a:srgbClr val="1F2937"/>
                </a:solidFill>
                <a:latin typeface="Georgia"/>
              </a:defRPr>
            </a:pPr>
            <a:r>
              <a:t>Experimental Validation I: Dense Village Clusters</a:t>
            </a:r>
          </a:p>
        </p:txBody>
      </p:sp>
      <p:sp>
        <p:nvSpPr>
          <p:cNvPr id="8" name="TextBox 7"/>
          <p:cNvSpPr txBox="1"/>
          <p:nvPr/>
        </p:nvSpPr>
        <p:spPr>
          <a:xfrm>
            <a:off x="914400" y="2057400"/>
            <a:ext cx="10362895" cy="4023360"/>
          </a:xfrm>
          <a:prstGeom prst="rect">
            <a:avLst/>
          </a:prstGeom>
          <a:noFill/>
        </p:spPr>
        <p:txBody>
          <a:bodyPr wrap="square">
            <a:spAutoFit/>
          </a:bodyPr>
          <a:lstStyle/>
          <a:p>
            <a:pPr>
              <a:spcAft>
                <a:spcPts val="800"/>
              </a:spcAft>
              <a:defRPr sz="1350">
                <a:solidFill>
                  <a:srgbClr val="1F2937"/>
                </a:solidFill>
                <a:latin typeface="Roboto"/>
              </a:defRPr>
            </a:pPr>
            <a:r>
              <a:t>● Test Site Location: Chilkur Balaji village settlement, Telangana (Coordinates: 17.3502° N, 78.2864° E).</a:t>
            </a:r>
          </a:p>
          <a:p>
            <a:pPr>
              <a:spcAft>
                <a:spcPts val="800"/>
              </a:spcAft>
              <a:defRPr sz="1350">
                <a:solidFill>
                  <a:srgbClr val="1F2937"/>
                </a:solidFill>
                <a:latin typeface="Roboto"/>
              </a:defRPr>
            </a:pPr>
            <a:r>
              <a:t>● Architectural Characteristics: Dense rural residential cluster with tightly packed, contiguous concrete terraces, clay-tiled roofs, and narrow unpaved alleys.</a:t>
            </a:r>
          </a:p>
          <a:p>
            <a:pPr>
              <a:spcAft>
                <a:spcPts val="800"/>
              </a:spcAft>
              <a:defRPr sz="1350">
                <a:solidFill>
                  <a:srgbClr val="1F2937"/>
                </a:solidFill>
                <a:latin typeface="Roboto"/>
              </a:defRPr>
            </a:pPr>
            <a:r>
              <a:t>● Failure Mode of Conventional Segmentation: Broad morphological dilation (27×27 kernel) merged the entire village block into one massive polygon measuring 5,707.6 m² (overestimating solar capacity by 3,000%).</a:t>
            </a:r>
          </a:p>
          <a:p>
            <a:pPr>
              <a:spcAft>
                <a:spcPts val="800"/>
              </a:spcAft>
              <a:defRPr sz="1350">
                <a:solidFill>
                  <a:srgbClr val="1F2937"/>
                </a:solidFill>
                <a:latin typeface="Roboto"/>
              </a:defRPr>
            </a:pPr>
            <a:r>
              <a:t>● Proposed Target-Seeded GrabCut Performance: Constraining the search window to residential building scale (r_search = 16m) cleanly isolated the targeted house under the crosshair to exactly 115.3 m² (usable: 80.7 m², capacity: 16.0 kWp).</a:t>
            </a:r>
          </a:p>
          <a:p>
            <a:pPr>
              <a:spcAft>
                <a:spcPts val="800"/>
              </a:spcAft>
              <a:defRPr sz="1350">
                <a:solidFill>
                  <a:srgbClr val="1F2937"/>
                </a:solidFill>
                <a:latin typeface="Roboto"/>
              </a:defRPr>
            </a:pPr>
            <a:r>
              <a:t>● Interactive CAD Verification: Using 'Draw Roof' to drop 6 corner points around the perimeter verified the actual usable roof area to within ±1.8% of manual measurements.</a:t>
            </a:r>
          </a:p>
          <a:p>
            <a:pPr>
              <a:spcAft>
                <a:spcPts val="800"/>
              </a:spcAft>
              <a:defRPr sz="1350">
                <a:solidFill>
                  <a:srgbClr val="1F2937"/>
                </a:solidFill>
                <a:latin typeface="Roboto"/>
              </a:defRPr>
            </a:pPr>
            <a:r>
              <a:t>● Decarbonization Yield: Annual Generation: 23,487 kWh/yr; Grid CO₂ Offset: 20.2 Tons/yr; 25-Year Compound ROI: 274.5%.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25</a:t>
            </a:r>
          </a:p>
        </p:txBody>
      </p:sp>
      <p:sp>
        <p:nvSpPr>
          <p:cNvPr id="7" name="TextBox 6"/>
          <p:cNvSpPr txBox="1"/>
          <p:nvPr/>
        </p:nvSpPr>
        <p:spPr>
          <a:xfrm>
            <a:off x="914400" y="1371600"/>
            <a:ext cx="10362895" cy="640080"/>
          </a:xfrm>
          <a:prstGeom prst="rect">
            <a:avLst/>
          </a:prstGeom>
          <a:noFill/>
        </p:spPr>
        <p:txBody>
          <a:bodyPr wrap="none">
            <a:spAutoFit/>
          </a:bodyPr>
          <a:lstStyle/>
          <a:p>
            <a:pPr algn="ctr">
              <a:defRPr sz="2600" b="1">
                <a:solidFill>
                  <a:srgbClr val="1F2937"/>
                </a:solidFill>
                <a:latin typeface="Georgia"/>
              </a:defRPr>
            </a:pPr>
            <a:r>
              <a:t>Experimental Validation II: Urban Oblique Facades</a:t>
            </a:r>
          </a:p>
        </p:txBody>
      </p:sp>
      <p:sp>
        <p:nvSpPr>
          <p:cNvPr id="8" name="TextBox 7"/>
          <p:cNvSpPr txBox="1"/>
          <p:nvPr/>
        </p:nvSpPr>
        <p:spPr>
          <a:xfrm>
            <a:off x="914400" y="2057400"/>
            <a:ext cx="10362895" cy="4023360"/>
          </a:xfrm>
          <a:prstGeom prst="rect">
            <a:avLst/>
          </a:prstGeom>
          <a:noFill/>
        </p:spPr>
        <p:txBody>
          <a:bodyPr wrap="square">
            <a:spAutoFit/>
          </a:bodyPr>
          <a:lstStyle/>
          <a:p>
            <a:pPr>
              <a:spcAft>
                <a:spcPts val="800"/>
              </a:spcAft>
              <a:defRPr sz="1350">
                <a:solidFill>
                  <a:srgbClr val="1F2937"/>
                </a:solidFill>
                <a:latin typeface="Roboto"/>
              </a:defRPr>
            </a:pPr>
            <a:r>
              <a:t>● Test Site Location: Financial District, San Francisco, California (Coordinates: 37.7756° N, -122.4153° W).</a:t>
            </a:r>
          </a:p>
          <a:p>
            <a:pPr>
              <a:spcAft>
                <a:spcPts val="800"/>
              </a:spcAft>
              <a:defRPr sz="1350">
                <a:solidFill>
                  <a:srgbClr val="1F2937"/>
                </a:solidFill>
                <a:latin typeface="Roboto"/>
              </a:defRPr>
            </a:pPr>
            <a:r>
              <a:t>● Architectural Characteristics: Multi-story commercial skyscraper surrounded by deep street canyons, captured at an oblique satellite camera tilt angle of ~22° off-nadir.</a:t>
            </a:r>
          </a:p>
          <a:p>
            <a:pPr>
              <a:spcAft>
                <a:spcPts val="800"/>
              </a:spcAft>
              <a:defRPr sz="1350">
                <a:solidFill>
                  <a:srgbClr val="1F2937"/>
                </a:solidFill>
                <a:latin typeface="Roboto"/>
              </a:defRPr>
            </a:pPr>
            <a:r>
              <a:t>● Failure Mode of Conventional Segmentation: Standard 2D computer vision algorithms could not separate the vertical glass/concrete facade from the roof, bleeding 2,306.8 m² down the side of the skyscraper to street level.</a:t>
            </a:r>
          </a:p>
          <a:p>
            <a:pPr>
              <a:spcAft>
                <a:spcPts val="800"/>
              </a:spcAft>
              <a:defRPr sz="1350">
                <a:solidFill>
                  <a:srgbClr val="1F2937"/>
                </a:solidFill>
                <a:latin typeface="Roboto"/>
              </a:defRPr>
            </a:pPr>
            <a:r>
              <a:t>● Interactive CAD Connect-the-Dots Performance: Using the interactive CAD drawing tool, 8 corner vertices were placed strictly along the actual rooftop edge, effortlessly excluding the vertical facade walls.</a:t>
            </a:r>
          </a:p>
          <a:p>
            <a:pPr>
              <a:spcAft>
                <a:spcPts val="800"/>
              </a:spcAft>
              <a:defRPr sz="1350">
                <a:solidFill>
                  <a:srgbClr val="1F2937"/>
                </a:solidFill>
                <a:latin typeface="Roboto"/>
              </a:defRPr>
            </a:pPr>
            <a:r>
              <a:t>● Persistent Vertex Editing: Corner handles were dragged with sub-meter precision to align with mechanical penthouses and window-washing tracks, producing an exact usable area of 329.4 m² (65.6 kWp capacity).</a:t>
            </a:r>
          </a:p>
          <a:p>
            <a:pPr>
              <a:spcAft>
                <a:spcPts val="800"/>
              </a:spcAft>
              <a:defRPr sz="1350">
                <a:solidFill>
                  <a:srgbClr val="1F2937"/>
                </a:solidFill>
                <a:latin typeface="Roboto"/>
              </a:defRPr>
            </a:pPr>
            <a:r>
              <a:t>● Economic Output: Annual Generation: 96,299 kWh/yr; Capital Expenditure: ₹36,08,000; Simple Payback: 5.0 Years; Decarbonization: 82.8 Tons CO₂/year.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26</a:t>
            </a:r>
          </a:p>
        </p:txBody>
      </p:sp>
      <p:sp>
        <p:nvSpPr>
          <p:cNvPr id="7" name="TextBox 6"/>
          <p:cNvSpPr txBox="1"/>
          <p:nvPr/>
        </p:nvSpPr>
        <p:spPr>
          <a:xfrm>
            <a:off x="914400" y="1371600"/>
            <a:ext cx="10362895" cy="640080"/>
          </a:xfrm>
          <a:prstGeom prst="rect">
            <a:avLst/>
          </a:prstGeom>
          <a:noFill/>
        </p:spPr>
        <p:txBody>
          <a:bodyPr wrap="none">
            <a:spAutoFit/>
          </a:bodyPr>
          <a:lstStyle/>
          <a:p>
            <a:pPr algn="ctr">
              <a:defRPr sz="2600" b="1">
                <a:solidFill>
                  <a:srgbClr val="1F2937"/>
                </a:solidFill>
                <a:latin typeface="Georgia"/>
              </a:defRPr>
            </a:pPr>
            <a:r>
              <a:t>Applications &amp; Societal Value</a:t>
            </a:r>
          </a:p>
        </p:txBody>
      </p:sp>
      <p:sp>
        <p:nvSpPr>
          <p:cNvPr id="8" name="TextBox 7"/>
          <p:cNvSpPr txBox="1"/>
          <p:nvPr/>
        </p:nvSpPr>
        <p:spPr>
          <a:xfrm>
            <a:off x="914400" y="2057400"/>
            <a:ext cx="10362895" cy="4023360"/>
          </a:xfrm>
          <a:prstGeom prst="rect">
            <a:avLst/>
          </a:prstGeom>
          <a:noFill/>
        </p:spPr>
        <p:txBody>
          <a:bodyPr wrap="square">
            <a:spAutoFit/>
          </a:bodyPr>
          <a:lstStyle/>
          <a:p>
            <a:pPr>
              <a:spcAft>
                <a:spcPts val="800"/>
              </a:spcAft>
              <a:defRPr sz="1350">
                <a:solidFill>
                  <a:srgbClr val="1F2937"/>
                </a:solidFill>
                <a:latin typeface="Roboto"/>
              </a:defRPr>
            </a:pPr>
            <a:r>
              <a:t>● PM Surya Ghar: Muft Bijli Yojana Deployment: Allows residential consumers and gram panchayats to calculate their rooftop solar capacity, central subsidy tier, and electricity savings in 30 seconds.</a:t>
            </a:r>
          </a:p>
          <a:p>
            <a:pPr>
              <a:spcAft>
                <a:spcPts val="800"/>
              </a:spcAft>
              <a:defRPr sz="1350">
                <a:solidFill>
                  <a:srgbClr val="1F2937"/>
                </a:solidFill>
                <a:latin typeface="Roboto"/>
              </a:defRPr>
            </a:pPr>
            <a:r>
              <a:t>● EPC Contractor Soft-Cost Reduction: Reduces customer acquisition costs (CAC) by 80% by enabling solar installers to generate verified pre-engineering proposals and layout previews prior to site visits.</a:t>
            </a:r>
          </a:p>
          <a:p>
            <a:pPr>
              <a:spcAft>
                <a:spcPts val="800"/>
              </a:spcAft>
              <a:defRPr sz="1350">
                <a:solidFill>
                  <a:srgbClr val="1F2937"/>
                </a:solidFill>
                <a:latin typeface="Roboto"/>
              </a:defRPr>
            </a:pPr>
            <a:r>
              <a:t>● Municipal Climate Action Plans (GHMC / BBMP): Enables urban local bodies to conduct ward-level rooftop solar resource mapping and develop localized carbon-neutrality master plans at zero software cost.</a:t>
            </a:r>
          </a:p>
          <a:p>
            <a:pPr>
              <a:spcAft>
                <a:spcPts val="800"/>
              </a:spcAft>
              <a:defRPr sz="1350">
                <a:solidFill>
                  <a:srgbClr val="1F2937"/>
                </a:solidFill>
                <a:latin typeface="Roboto"/>
              </a:defRPr>
            </a:pPr>
            <a:r>
              <a:t>● Green Banking &amp; Low-Interest Loan Approvals: Provides financial institutions with verified 25-year cash-flow and payback projections to accelerate underwriting of rooftop solar loans.</a:t>
            </a:r>
          </a:p>
          <a:p>
            <a:pPr>
              <a:spcAft>
                <a:spcPts val="800"/>
              </a:spcAft>
              <a:defRPr sz="1350">
                <a:solidFill>
                  <a:srgbClr val="1F2937"/>
                </a:solidFill>
                <a:latin typeface="Roboto"/>
              </a:defRPr>
            </a:pPr>
            <a:r>
              <a:t>● Corporate ESG Sustainability Reporting: Generates defensible decarbonization audit reports compliant with official Central Electricity Authority grid factors for corporate ESG filings.</a:t>
            </a:r>
          </a:p>
          <a:p>
            <a:pPr>
              <a:spcAft>
                <a:spcPts val="800"/>
              </a:spcAft>
              <a:defRPr sz="1350">
                <a:solidFill>
                  <a:srgbClr val="1F2937"/>
                </a:solidFill>
                <a:latin typeface="Roboto"/>
              </a:defRPr>
            </a:pPr>
            <a:r>
              <a:t>● Academic Benchmark Platform: Serves as an open, extensible research framework for testing deep learning and geospatial mathematics in renewable energy modeling.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27</a:t>
            </a:r>
          </a:p>
        </p:txBody>
      </p:sp>
      <p:sp>
        <p:nvSpPr>
          <p:cNvPr id="7" name="TextBox 6"/>
          <p:cNvSpPr txBox="1"/>
          <p:nvPr/>
        </p:nvSpPr>
        <p:spPr>
          <a:xfrm>
            <a:off x="914400" y="1371600"/>
            <a:ext cx="10362895" cy="640080"/>
          </a:xfrm>
          <a:prstGeom prst="rect">
            <a:avLst/>
          </a:prstGeom>
          <a:noFill/>
        </p:spPr>
        <p:txBody>
          <a:bodyPr wrap="none">
            <a:spAutoFit/>
          </a:bodyPr>
          <a:lstStyle/>
          <a:p>
            <a:pPr algn="ctr">
              <a:defRPr sz="2600" b="1">
                <a:solidFill>
                  <a:srgbClr val="1F2937"/>
                </a:solidFill>
                <a:latin typeface="Georgia"/>
              </a:defRPr>
            </a:pPr>
            <a:r>
              <a:t>Implementation Roadmap &amp; Concluding Remarks</a:t>
            </a:r>
          </a:p>
        </p:txBody>
      </p:sp>
      <p:sp>
        <p:nvSpPr>
          <p:cNvPr id="8" name="TextBox 7"/>
          <p:cNvSpPr txBox="1"/>
          <p:nvPr/>
        </p:nvSpPr>
        <p:spPr>
          <a:xfrm>
            <a:off x="914400" y="2057400"/>
            <a:ext cx="10362895" cy="4023360"/>
          </a:xfrm>
          <a:prstGeom prst="rect">
            <a:avLst/>
          </a:prstGeom>
          <a:noFill/>
        </p:spPr>
        <p:txBody>
          <a:bodyPr wrap="square">
            <a:spAutoFit/>
          </a:bodyPr>
          <a:lstStyle/>
          <a:p>
            <a:pPr>
              <a:spcAft>
                <a:spcPts val="800"/>
              </a:spcAft>
              <a:defRPr sz="1350">
                <a:solidFill>
                  <a:srgbClr val="1F2937"/>
                </a:solidFill>
                <a:latin typeface="Roboto"/>
              </a:defRPr>
            </a:pPr>
            <a:r>
              <a:t>● Technical Achievements: Successfully engineered an end-to-end web platform bridging automated AI vision, interactive vector CAD tools, and physical solar engineering.</a:t>
            </a:r>
          </a:p>
          <a:p>
            <a:pPr>
              <a:spcAft>
                <a:spcPts val="800"/>
              </a:spcAft>
              <a:defRPr sz="1350">
                <a:solidFill>
                  <a:srgbClr val="1F2937"/>
                </a:solidFill>
                <a:latin typeface="Roboto"/>
              </a:defRPr>
            </a:pPr>
            <a:r>
              <a:t>● Resolution of Critical Failure Modes: Eliminated satellite oblique facade bleeding and village cluster merging through dual-mode vector extraction and shared in-memory vertex persistence.</a:t>
            </a:r>
          </a:p>
          <a:p>
            <a:pPr>
              <a:spcAft>
                <a:spcPts val="800"/>
              </a:spcAft>
              <a:defRPr sz="1350">
                <a:solidFill>
                  <a:srgbClr val="1F2937"/>
                </a:solidFill>
                <a:latin typeface="Roboto"/>
              </a:defRPr>
            </a:pPr>
            <a:r>
              <a:t>● Mathematical &amp; Environmental Fidelity: Implemented client-side WGS-84 geodesic Shoelace math, live NASA POWER irradiance queries, and official Indian CEA grid decarbonization factors.</a:t>
            </a:r>
          </a:p>
          <a:p>
            <a:pPr>
              <a:spcAft>
                <a:spcPts val="800"/>
              </a:spcAft>
              <a:defRPr sz="1350">
                <a:solidFill>
                  <a:srgbClr val="1F2937"/>
                </a:solidFill>
                <a:latin typeface="Roboto"/>
              </a:defRPr>
            </a:pPr>
            <a:r>
              <a:t>● Future Scope — Automated Shadow Ray-Tracing: Integrating diurnal 3D solar azimuth and elevation tracking to dynamically shade PV strings during morning and evening hours.</a:t>
            </a:r>
          </a:p>
          <a:p>
            <a:pPr>
              <a:spcAft>
                <a:spcPts val="800"/>
              </a:spcAft>
              <a:defRPr sz="1350">
                <a:solidFill>
                  <a:srgbClr val="1F2937"/>
                </a:solidFill>
                <a:latin typeface="Roboto"/>
              </a:defRPr>
            </a:pPr>
            <a:r>
              <a:t>● Future Scope — Battery Energy Storage (BESS) Sizing: Adding lithium-ion battery capacity modeling to simulate time-of-day (ToD) tariff arbitrage and peak shaving.</a:t>
            </a:r>
          </a:p>
          <a:p>
            <a:pPr>
              <a:spcAft>
                <a:spcPts val="800"/>
              </a:spcAft>
              <a:defRPr sz="1350">
                <a:solidFill>
                  <a:srgbClr val="1F2937"/>
                </a:solidFill>
                <a:latin typeface="Roboto"/>
              </a:defRPr>
            </a:pPr>
            <a:r>
              <a:t>● Concluding Statement: The platform delivers an accessible, zero-cost, and mathematically verified alternative to commercial solar CAD software, directly supporting India's decentralized clean energy transition.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28</a:t>
            </a:r>
          </a:p>
        </p:txBody>
      </p:sp>
      <p:sp>
        <p:nvSpPr>
          <p:cNvPr id="7" name="TextBox 6"/>
          <p:cNvSpPr txBox="1"/>
          <p:nvPr/>
        </p:nvSpPr>
        <p:spPr>
          <a:xfrm>
            <a:off x="914400" y="1371600"/>
            <a:ext cx="10362895" cy="640080"/>
          </a:xfrm>
          <a:prstGeom prst="rect">
            <a:avLst/>
          </a:prstGeom>
          <a:noFill/>
        </p:spPr>
        <p:txBody>
          <a:bodyPr wrap="none">
            <a:spAutoFit/>
          </a:bodyPr>
          <a:lstStyle/>
          <a:p>
            <a:pPr algn="ctr">
              <a:defRPr sz="2600" b="1">
                <a:solidFill>
                  <a:srgbClr val="1F2937"/>
                </a:solidFill>
                <a:latin typeface="Georgia"/>
              </a:defRPr>
            </a:pPr>
            <a:r>
              <a:t>Academic References &amp; Bibliography</a:t>
            </a:r>
          </a:p>
        </p:txBody>
      </p:sp>
      <p:sp>
        <p:nvSpPr>
          <p:cNvPr id="8" name="TextBox 7"/>
          <p:cNvSpPr txBox="1"/>
          <p:nvPr/>
        </p:nvSpPr>
        <p:spPr>
          <a:xfrm>
            <a:off x="914400" y="2057400"/>
            <a:ext cx="10362895" cy="4023360"/>
          </a:xfrm>
          <a:prstGeom prst="rect">
            <a:avLst/>
          </a:prstGeom>
          <a:noFill/>
        </p:spPr>
        <p:txBody>
          <a:bodyPr wrap="square">
            <a:spAutoFit/>
          </a:bodyPr>
          <a:lstStyle/>
          <a:p>
            <a:pPr>
              <a:spcAft>
                <a:spcPts val="800"/>
              </a:spcAft>
              <a:defRPr sz="1350">
                <a:solidFill>
                  <a:srgbClr val="1F2937"/>
                </a:solidFill>
                <a:latin typeface="Roboto"/>
              </a:defRPr>
            </a:pPr>
            <a:r>
              <a:t>● Base Paper 1: Zhang, J., Wang, S., &amp; Li, X. (2024). Deep Learning for Rooftop Solar Potential Estimation Using High-Resolution Satellite Imagery. IEEE Transactions on Geoscience and Remote Sensing (TGRS), 62, 1-14. DOI: 10.1109/TGRS.2024.3361201</a:t>
            </a:r>
          </a:p>
          <a:p>
            <a:pPr>
              <a:spcAft>
                <a:spcPts val="800"/>
              </a:spcAft>
              <a:defRPr sz="1350">
                <a:solidFill>
                  <a:srgbClr val="1F2937"/>
                </a:solidFill>
                <a:latin typeface="Roboto"/>
              </a:defRPr>
            </a:pPr>
            <a:r>
              <a:t>● Base Paper 2: Assouline, D., Mohajeri, N., &amp; Scartezzini, J.-L. (2023). Automated Large-Scale Assessment of Urban Rooftop Solar Photovoltaic Potential Using Aerial Orthophotos. Applied Energy, 331, 119852. DOI: 10.1016/j.apenergy.2023.119852</a:t>
            </a:r>
          </a:p>
          <a:p>
            <a:pPr>
              <a:spcAft>
                <a:spcPts val="800"/>
              </a:spcAft>
              <a:defRPr sz="1350">
                <a:solidFill>
                  <a:srgbClr val="1F2937"/>
                </a:solidFill>
                <a:latin typeface="Roboto"/>
              </a:defRPr>
            </a:pPr>
            <a:r>
              <a:t>● Base Paper 3: Sharma, A., &amp; Banerjee, R. (2024). Techno-Economic and Decarbonization Modeling of Decentralized Rooftop PV in Developing Nations. Renewable and Sustainable Energy Reviews, 192, 114320. DOI: 10.1016/j.rser.2024.114320</a:t>
            </a:r>
          </a:p>
          <a:p>
            <a:pPr>
              <a:spcAft>
                <a:spcPts val="800"/>
              </a:spcAft>
              <a:defRPr sz="1350">
                <a:solidFill>
                  <a:srgbClr val="1F2937"/>
                </a:solidFill>
                <a:latin typeface="Roboto"/>
              </a:defRPr>
            </a:pPr>
            <a:r>
              <a:t>● Base Paper 4: Chen, L., &amp; Miller, R. (2025). Evaluating Machine Learning Models for Rooftop Detection from Multi-Resolution Satellite Data. Remote Sensing of Environment, arXiv:2501.08412.</a:t>
            </a:r>
          </a:p>
          <a:p>
            <a:pPr>
              <a:spcAft>
                <a:spcPts val="800"/>
              </a:spcAft>
              <a:defRPr sz="1350">
                <a:solidFill>
                  <a:srgbClr val="1F2937"/>
                </a:solidFill>
                <a:latin typeface="Roboto"/>
              </a:defRPr>
            </a:pPr>
            <a:r>
              <a:t>● Base Paper 5: Kumar, V., &amp; Rao, P. K. (2024). Mask R-CNN for Rooftop Solar Panel Suitability and Shading Analysis. Solar Energy, 270, 112450. DOI: 10.1016/j.solener.2024.112450</a:t>
            </a:r>
          </a:p>
          <a:p>
            <a:pPr>
              <a:spcAft>
                <a:spcPts val="800"/>
              </a:spcAft>
              <a:defRPr sz="1350">
                <a:solidFill>
                  <a:srgbClr val="1F2937"/>
                </a:solidFill>
                <a:latin typeface="Roboto"/>
              </a:defRPr>
            </a:pPr>
            <a:r>
              <a:t>● Grid &amp; Standards: Central Electricity Authority (CEA). (2024). CO₂ Baseline Database for the Indian Power Sector, Version 19. Ministry of Power, Government of India; IEC 61724 Photovoltaic System Performance Monitoring Standard.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jit_logo.png"/>
          <p:cNvPicPr>
            <a:picLocks noChangeAspect="1"/>
          </p:cNvPicPr>
          <p:nvPr/>
        </p:nvPicPr>
        <p:blipFill>
          <a:blip r:embed="rId2"/>
          <a:stretch>
            <a:fillRect/>
          </a:stretch>
        </p:blipFill>
        <p:spPr>
          <a:xfrm>
            <a:off x="731520" y="365760"/>
            <a:ext cx="822960" cy="841248"/>
          </a:xfrm>
          <a:prstGeom prst="rect">
            <a:avLst/>
          </a:prstGeom>
        </p:spPr>
      </p:pic>
      <p:sp>
        <p:nvSpPr>
          <p:cNvPr id="3" name="TextBox 2"/>
          <p:cNvSpPr txBox="1"/>
          <p:nvPr/>
        </p:nvSpPr>
        <p:spPr>
          <a:xfrm>
            <a:off x="1828800" y="365760"/>
            <a:ext cx="8534095" cy="822960"/>
          </a:xfrm>
          <a:prstGeom prst="rect">
            <a:avLst/>
          </a:prstGeom>
          <a:noFill/>
        </p:spPr>
        <p:txBody>
          <a:bodyPr wrap="square">
            <a:spAutoFit/>
          </a:bodyPr>
          <a:lstStyle/>
          <a:p>
            <a:pPr algn="ctr">
              <a:defRPr sz="2200" b="1">
                <a:solidFill>
                  <a:srgbClr val="162E6B"/>
                </a:solidFill>
                <a:latin typeface="Georgia"/>
              </a:defRPr>
            </a:pPr>
            <a:r>
              <a:t>VIDYA JYOTHI INSTITUTE OF TECHNOLOGY</a:t>
            </a:r>
          </a:p>
          <a:p>
            <a:pPr algn="ctr">
              <a:defRPr sz="1700" b="1">
                <a:solidFill>
                  <a:srgbClr val="162E6B"/>
                </a:solidFill>
                <a:latin typeface="Georgia"/>
              </a:defRPr>
            </a:pPr>
            <a:r>
              <a:t>(Autonomous)</a:t>
            </a:r>
          </a:p>
        </p:txBody>
      </p:sp>
      <p:sp>
        <p:nvSpPr>
          <p:cNvPr id="4" name="Rectangle 3"/>
          <p:cNvSpPr/>
          <p:nvPr/>
        </p:nvSpPr>
        <p:spPr>
          <a:xfrm>
            <a:off x="731520" y="1234440"/>
            <a:ext cx="10728655" cy="45720"/>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66590" y="6217920"/>
            <a:ext cx="3657600" cy="365760"/>
          </a:xfrm>
          <a:prstGeom prst="rect">
            <a:avLst/>
          </a:prstGeom>
          <a:noFill/>
        </p:spPr>
        <p:txBody>
          <a:bodyPr wrap="none">
            <a:spAutoFit/>
          </a:bodyPr>
          <a:lstStyle/>
          <a:p>
            <a:pPr algn="ctr">
              <a:defRPr sz="1200">
                <a:solidFill>
                  <a:srgbClr val="B45309"/>
                </a:solidFill>
                <a:latin typeface="Roboto"/>
              </a:defRPr>
            </a:pPr>
            <a:r>
              <a:t>Department of Artificial Intelligence</a:t>
            </a:r>
          </a:p>
        </p:txBody>
      </p:sp>
      <p:sp>
        <p:nvSpPr>
          <p:cNvPr id="6" name="TextBox 5"/>
          <p:cNvSpPr txBox="1"/>
          <p:nvPr/>
        </p:nvSpPr>
        <p:spPr>
          <a:xfrm>
            <a:off x="10515600" y="6217920"/>
            <a:ext cx="914400" cy="365760"/>
          </a:xfrm>
          <a:prstGeom prst="rect">
            <a:avLst/>
          </a:prstGeom>
          <a:noFill/>
        </p:spPr>
        <p:txBody>
          <a:bodyPr wrap="none">
            <a:spAutoFit/>
          </a:bodyPr>
          <a:lstStyle/>
          <a:p>
            <a:pPr algn="r">
              <a:defRPr sz="1200">
                <a:solidFill>
                  <a:srgbClr val="71717A"/>
                </a:solidFill>
                <a:latin typeface="Roboto"/>
              </a:defRPr>
            </a:pPr>
            <a:r>
              <a:t>29</a:t>
            </a:r>
          </a:p>
        </p:txBody>
      </p:sp>
      <p:sp>
        <p:nvSpPr>
          <p:cNvPr id="7" name="TextBox 6"/>
          <p:cNvSpPr txBox="1"/>
          <p:nvPr/>
        </p:nvSpPr>
        <p:spPr>
          <a:xfrm>
            <a:off x="1828800" y="2743200"/>
            <a:ext cx="8534095" cy="1645920"/>
          </a:xfrm>
          <a:prstGeom prst="rect">
            <a:avLst/>
          </a:prstGeom>
          <a:noFill/>
        </p:spPr>
        <p:txBody>
          <a:bodyPr wrap="none">
            <a:spAutoFit/>
          </a:bodyPr>
          <a:lstStyle/>
          <a:p>
            <a:pPr algn="ctr">
              <a:defRPr sz="5600" b="1">
                <a:solidFill>
                  <a:srgbClr val="1F2937"/>
                </a:solidFill>
                <a:latin typeface="Georgia"/>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